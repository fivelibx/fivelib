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Open Sauce Bold" charset="1" panose="00000800000000000000"/>
      <p:regular r:id="rId32"/>
    </p:embeddedFont>
    <p:embeddedFont>
      <p:font typeface="Open Sauce Light" charset="1" panose="00000400000000000000"/>
      <p:regular r:id="rId33"/>
    </p:embeddedFont>
    <p:embeddedFont>
      <p:font typeface="Open Sauce" charset="1" panose="00000500000000000000"/>
      <p:regular r:id="rId34"/>
    </p:embeddedFont>
    <p:embeddedFont>
      <p:font typeface="Open Sans Bold" charset="1" panose="020B0806030504020204"/>
      <p:regular r:id="rId35"/>
    </p:embeddedFont>
    <p:embeddedFont>
      <p:font typeface="Open Sauce Bold Italics" charset="1" panose="00000800000000000000"/>
      <p:regular r:id="rId36"/>
    </p:embeddedFont>
    <p:embeddedFont>
      <p:font typeface="Open Sauce Italics" charset="1" panose="00000500000000000000"/>
      <p:regular r:id="rId37"/>
    </p:embeddedFont>
    <p:embeddedFont>
      <p:font typeface="Canva Sans Bold" charset="1" panose="020B0803030501040103"/>
      <p:regular r:id="rId38"/>
    </p:embeddedFont>
    <p:embeddedFont>
      <p:font typeface="Canva Sans" charset="1" panose="020B0503030501040103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2" Target="../media/image29.png" Type="http://schemas.openxmlformats.org/officeDocument/2006/relationships/image"/><Relationship Id="rId3" Target="../media/image22.png" Type="http://schemas.openxmlformats.org/officeDocument/2006/relationships/image"/><Relationship Id="rId4" Target="../media/image30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725274"/>
            <a:ext cx="10496758" cy="621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6"/>
              </a:lnSpc>
            </a:pPr>
            <a:r>
              <a:rPr lang="en-US" b="true" sz="25315" spc="-531">
                <a:solidFill>
                  <a:srgbClr val="D9D9D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FIVE </a:t>
            </a:r>
          </a:p>
          <a:p>
            <a:pPr algn="l">
              <a:lnSpc>
                <a:spcPts val="23796"/>
              </a:lnSpc>
            </a:pPr>
            <a:r>
              <a:rPr lang="en-US" b="true" sz="25315" spc="-531">
                <a:solidFill>
                  <a:srgbClr val="D9D9D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LIB</a:t>
            </a:r>
            <a:r>
              <a:rPr lang="en-US" b="true" sz="25315" spc="-531">
                <a:solidFill>
                  <a:srgbClr val="D9D9D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458285" y="4469864"/>
            <a:ext cx="801015" cy="1347272"/>
          </a:xfrm>
          <a:custGeom>
            <a:avLst/>
            <a:gdLst/>
            <a:ahLst/>
            <a:cxnLst/>
            <a:rect r="r" b="b" t="t" l="l"/>
            <a:pathLst>
              <a:path h="1347272" w="801015">
                <a:moveTo>
                  <a:pt x="0" y="0"/>
                </a:moveTo>
                <a:lnTo>
                  <a:pt x="801015" y="0"/>
                </a:lnTo>
                <a:lnTo>
                  <a:pt x="801015" y="1347272"/>
                </a:lnTo>
                <a:lnTo>
                  <a:pt x="0" y="134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869820" y="7722011"/>
            <a:ext cx="6389480" cy="1012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6"/>
              </a:lnSpc>
            </a:pPr>
            <a:r>
              <a:rPr lang="en-US" sz="3600" spc="-75">
                <a:solidFill>
                  <a:srgbClr val="C1E328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Análise e Desenvolvimento de Sistemas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70144" y="1123211"/>
            <a:ext cx="3189156" cy="26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73"/>
              </a:lnSpc>
            </a:pPr>
            <a:r>
              <a:rPr lang="en-US" sz="2100" spc="98">
                <a:solidFill>
                  <a:srgbClr val="C1E328"/>
                </a:solidFill>
                <a:latin typeface="Open Sauce"/>
                <a:ea typeface="Open Sauce"/>
                <a:cs typeface="Open Sauce"/>
                <a:sym typeface="Open Sauce"/>
              </a:rPr>
              <a:t>ABRIL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1357" y="1061489"/>
            <a:ext cx="1604863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b="true" sz="2100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ESTÁCIO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28952" y="4725670"/>
            <a:ext cx="5830095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D9D9D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89678" y="5253939"/>
            <a:ext cx="6308378" cy="3170891"/>
            <a:chOff x="0" y="0"/>
            <a:chExt cx="977333" cy="4912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7333" cy="491254"/>
            </a:xfrm>
            <a:custGeom>
              <a:avLst/>
              <a:gdLst/>
              <a:ahLst/>
              <a:cxnLst/>
              <a:rect r="r" b="b" t="t" l="l"/>
              <a:pathLst>
                <a:path h="491254" w="977333">
                  <a:moveTo>
                    <a:pt x="0" y="0"/>
                  </a:moveTo>
                  <a:lnTo>
                    <a:pt x="977333" y="0"/>
                  </a:lnTo>
                  <a:lnTo>
                    <a:pt x="977333" y="491254"/>
                  </a:lnTo>
                  <a:lnTo>
                    <a:pt x="0" y="491254"/>
                  </a:lnTo>
                  <a:close/>
                </a:path>
              </a:pathLst>
            </a:custGeom>
            <a:blipFill>
              <a:blip r:embed="rId2"/>
              <a:stretch>
                <a:fillRect l="0" t="-16398" r="0" b="-16398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5400000">
            <a:off x="617721" y="8005064"/>
            <a:ext cx="1666940" cy="839531"/>
          </a:xfrm>
          <a:custGeom>
            <a:avLst/>
            <a:gdLst/>
            <a:ahLst/>
            <a:cxnLst/>
            <a:rect r="r" b="b" t="t" l="l"/>
            <a:pathLst>
              <a:path h="839531" w="1666940">
                <a:moveTo>
                  <a:pt x="0" y="0"/>
                </a:moveTo>
                <a:lnTo>
                  <a:pt x="1666939" y="0"/>
                </a:lnTo>
                <a:lnTo>
                  <a:pt x="1666939" y="839532"/>
                </a:lnTo>
                <a:lnTo>
                  <a:pt x="0" y="8395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67803" y="4310030"/>
            <a:ext cx="2124733" cy="4114800"/>
          </a:xfrm>
          <a:custGeom>
            <a:avLst/>
            <a:gdLst/>
            <a:ahLst/>
            <a:cxnLst/>
            <a:rect r="r" b="b" t="t" l="l"/>
            <a:pathLst>
              <a:path h="4114800" w="2124733">
                <a:moveTo>
                  <a:pt x="0" y="0"/>
                </a:moveTo>
                <a:lnTo>
                  <a:pt x="2124734" y="0"/>
                </a:lnTo>
                <a:lnTo>
                  <a:pt x="21247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70956" y="1661839"/>
            <a:ext cx="5759843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89678" y="3021655"/>
            <a:ext cx="13472057" cy="113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6"/>
              </a:lnSpc>
            </a:pPr>
            <a:r>
              <a:rPr lang="en-US" sz="2505" spc="4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 excesso de fontes dispersas confudi quem está começando. Sem um ponto central de referência, o desenvolvedor iniciante gasta mais tempo tentando encontrar a ferramenta certa do que realmente programando.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00941" y="3773170"/>
            <a:ext cx="5286119" cy="2931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b="true" sz="8000" spc="-168">
                <a:solidFill>
                  <a:srgbClr val="D9D9D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TAMANHO DO MERCADO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8394" y="2985080"/>
            <a:ext cx="17331211" cy="627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7692" indent="-258846" lvl="1">
              <a:lnSpc>
                <a:spcPts val="335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TAM (Total Addres</a:t>
            </a:r>
            <a:r>
              <a:rPr lang="en-US" b="true" sz="23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sable Market) - O Mercado Global:</a:t>
            </a:r>
            <a:r>
              <a:rPr lang="en-US" sz="23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O mercado global de EdTech (Educação + Tecnologia) foi avaliado em US$ 187 a 189 Bilhões em 2025, com projeção de crescimento contínuo para os próximos anos impulsionado pela transformação digital e adoção de ferramentas de IA na educação.</a:t>
            </a:r>
          </a:p>
          <a:p>
            <a:pPr algn="just">
              <a:lnSpc>
                <a:spcPts val="3356"/>
              </a:lnSpc>
              <a:spcBef>
                <a:spcPct val="0"/>
              </a:spcBef>
            </a:pPr>
          </a:p>
          <a:p>
            <a:pPr algn="just" marL="517692" indent="-258846" lvl="1">
              <a:lnSpc>
                <a:spcPts val="335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SAM (Serviceable Addressable Market) - O Mercado Nacional:</a:t>
            </a:r>
            <a:r>
              <a:rPr lang="en-US" sz="23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O Brasil atingiu a marca histórica de 10 milhões de estudantes no ensino superior. Deste montante, o ecossistema STEM (Engenharias, Computação e Tecnologias da Informação) forma um público altamente qualificado e constante de aproximadamente 1 milhão a 1.2 milhão de matrículas ativas, carentes de plataformas que otimizem a curva de aprendizado técnico.</a:t>
            </a:r>
          </a:p>
          <a:p>
            <a:pPr algn="just">
              <a:lnSpc>
                <a:spcPts val="3356"/>
              </a:lnSpc>
              <a:spcBef>
                <a:spcPct val="0"/>
              </a:spcBef>
            </a:pPr>
          </a:p>
          <a:p>
            <a:pPr algn="just" marL="517692" indent="-258846" lvl="1">
              <a:lnSpc>
                <a:spcPts val="3356"/>
              </a:lnSpc>
              <a:spcBef>
                <a:spcPct val="0"/>
              </a:spcBef>
              <a:buFont typeface="Arial"/>
              <a:buChar char="•"/>
            </a:pPr>
            <a:r>
              <a:rPr lang="en-US" sz="23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SOM (S</a:t>
            </a:r>
            <a:r>
              <a:rPr lang="en-US" sz="23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erviceable Obtainable Market) - A Meta do MVP: Captação de 50.000 usuários ativos nos primeiros 12 a 18 meses. O foco inicial de tração será nos estudantes de Análise e Desenvolvimento de Sistemas (ADS) em grandes polos universitários e centros acadêmicos, validando a plataforma Fivelib antes de expandir para outras verticais da engenharia de software.</a:t>
            </a:r>
          </a:p>
          <a:p>
            <a:pPr algn="just">
              <a:lnSpc>
                <a:spcPts val="3356"/>
              </a:lnSpc>
              <a:spcBef>
                <a:spcPct val="0"/>
              </a:spcBef>
            </a:pPr>
          </a:p>
          <a:p>
            <a:pPr algn="just">
              <a:lnSpc>
                <a:spcPts val="3356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38743" y="721364"/>
            <a:ext cx="13210514" cy="189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5"/>
              </a:lnSpc>
            </a:pPr>
            <a:r>
              <a:rPr lang="en-US" sz="5468" b="true">
                <a:solidFill>
                  <a:srgbClr val="C1E3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de Negócio: Ecossistema de Valor e Monetização B2B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85841" y="4286462"/>
            <a:ext cx="11123764" cy="30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16"/>
              </a:lnSpc>
              <a:spcBef>
                <a:spcPct val="0"/>
              </a:spcBef>
            </a:pPr>
            <a:r>
              <a:rPr lang="en-US" b="true" sz="1797" i="true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Fonte: </a:t>
            </a:r>
            <a:r>
              <a:rPr lang="en-US" sz="1797" i="true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Grand View Research / Fortune Business Insights, Relatórios de Mercado EdTech 2025-2026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62105" y="6390613"/>
            <a:ext cx="8247500" cy="30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16"/>
              </a:lnSpc>
              <a:spcBef>
                <a:spcPct val="0"/>
              </a:spcBef>
            </a:pPr>
            <a:r>
              <a:rPr lang="en-US" b="true" sz="1797" i="true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Fonte: </a:t>
            </a:r>
            <a:r>
              <a:rPr lang="en-US" sz="1797" i="true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Ministério da Educação (MEC) / INEP - Censo da Educação Superior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62105" y="8373772"/>
            <a:ext cx="8247500" cy="62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16"/>
              </a:lnSpc>
              <a:spcBef>
                <a:spcPct val="0"/>
              </a:spcBef>
            </a:pPr>
            <a:r>
              <a:rPr lang="en-US" b="true" sz="1797" i="true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Fonte:</a:t>
            </a:r>
            <a:r>
              <a:rPr lang="en-US" sz="1797" i="true">
                <a:solidFill>
                  <a:srgbClr val="FFFFF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 Projeção interna da Fivelib baseada na penetração em redes de ensino parceiras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98662" y="4725670"/>
            <a:ext cx="8690676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D9D9D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CONCORRENTES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4512" y="2390775"/>
            <a:ext cx="15538976" cy="691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C1E3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01. GitHub </a:t>
            </a:r>
            <a:r>
              <a:rPr lang="en-US" sz="3000" b="true">
                <a:solidFill>
                  <a:srgbClr val="C1E3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Awesome vs. FiveLib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GitHub 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oferece listas estáticas onde a busca é manual. O </a:t>
            </a: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FiveLib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transforma esse conteúdo em dados pesquisáveis, permitindo filtrar por stack ou categoria em segundos.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C1E3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02. Favoritos do Browser vs. FiveLib</a:t>
            </a:r>
            <a:r>
              <a:rPr lang="en-US" sz="3000">
                <a:solidFill>
                  <a:srgbClr val="C1E328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Links no 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navegador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são locais e "morrem" por falta de organização. O 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FiveLib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garante persistência em nuvem com uma estrutura lógica voltada para documentação técnica.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C1E3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03. Notion vs. FiveLib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Notion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exige que você gaste tempo montando o banco de dados. O 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FiveLib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já nasce com a arquitetura de dados pronta: você só precisa entrar e favoritar o que importa.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379303" y="518825"/>
            <a:ext cx="9529394" cy="92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5"/>
              </a:lnSpc>
            </a:pPr>
            <a:r>
              <a:rPr lang="en-US" sz="5468" b="true">
                <a:solidFill>
                  <a:srgbClr val="C1E3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Quem são os concorrentes?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91369" y="4725670"/>
            <a:ext cx="5105262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D9D9D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SOLUÇÃO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3417" y="2011857"/>
            <a:ext cx="5759843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3417" y="3363409"/>
            <a:ext cx="11804558" cy="105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15"/>
              </a:lnSpc>
            </a:pPr>
            <a:r>
              <a:rPr lang="en-US" sz="2308" spc="3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 FiveLib centraliza o ecossistema de desenvolvimento em um hub curado, reduzindo o tempo de busca e organizando o fluxo de estudo do desenvolvedor iniciante.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0715" y="6453352"/>
            <a:ext cx="3292828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b="true" sz="2100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CURADORIA TÉCNICA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980429"/>
            <a:ext cx="3292828" cy="1623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Seleção rigorosa de bibliotecas e frameworks categorizados por linguagem e utilidade técnica.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86023" y="6453352"/>
            <a:ext cx="3855276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b="true" sz="2100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MODELO FREEMIUM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11830" y="7020838"/>
            <a:ext cx="3829469" cy="119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948" spc="31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Acesso gratuito à base pública com opção de conta Pro para gestão de links privados e produtividade avançada.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79416" y="6390945"/>
            <a:ext cx="3308826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b="true" sz="2100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PERFIL PERSISTENTE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79862" y="6918022"/>
            <a:ext cx="3227885" cy="1623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 usuário pode personalizar o seu perfil com base nas suas pesquisas, nos links que favoritar.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79788" y="6390945"/>
            <a:ext cx="3792752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88"/>
              </a:lnSpc>
            </a:pPr>
            <a:r>
              <a:rPr lang="en-US" b="true" sz="2100" spc="98">
                <a:solidFill>
                  <a:srgbClr val="C1E32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FOCO NO APRENDIZADO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79788" y="6918022"/>
            <a:ext cx="3792752" cy="129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 spc="33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Interface desenhada para facilitar a descoberta de ferramentas, acelerando a evolução do desenvolvedor.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50024" y="3773170"/>
            <a:ext cx="8587952" cy="2931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0"/>
              </a:lnSpc>
            </a:pPr>
            <a:r>
              <a:rPr lang="en-US" b="true" sz="8000" spc="-168">
                <a:solidFill>
                  <a:srgbClr val="D9D9D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ESTRATÉGIA DE CRESCIMENTO (GO-TO-MARKET)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1830" y="3297483"/>
            <a:ext cx="16964341" cy="445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050" indent="-302025" lvl="1">
              <a:lnSpc>
                <a:spcPts val="391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Parcerias B2B2C:</a:t>
            </a:r>
            <a:r>
              <a:rPr lang="en-US" sz="27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Alianças e</a:t>
            </a:r>
            <a:r>
              <a:rPr lang="en-US" sz="27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stratégicas com Centros Acadêmicos (CAs) e Diretórios Acadêmicos (DAs) para introduzir a FiveLib como ferramenta oficial de apoio aos calouros.</a:t>
            </a:r>
          </a:p>
          <a:p>
            <a:pPr algn="just" marL="604050" indent="-302025" lvl="1">
              <a:lnSpc>
                <a:spcPts val="391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27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ntegração com Repositórios:</a:t>
            </a:r>
            <a:r>
              <a:rPr lang="en-US" sz="27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Presença ativa em repositórios de "Awesome Lists" no GitHub e fóruns de tecnologia, tornando-se a referência número 1 para busca de bibliotecas curadas.</a:t>
            </a:r>
          </a:p>
          <a:p>
            <a:pPr algn="just" marL="604050" indent="-302025" lvl="1">
              <a:lnSpc>
                <a:spcPts val="391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b="true" sz="27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rograma de Embaixadores:</a:t>
            </a:r>
            <a:r>
              <a:rPr lang="en-US" sz="27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Seleção de "Líderes de Turma" nas principais faculdades de TI para disseminar a plataforma em troca de recursos Premium e badges de contribuidor.</a:t>
            </a:r>
          </a:p>
          <a:p>
            <a:pPr algn="just" marL="604050" indent="-302025" lvl="1">
              <a:lnSpc>
                <a:spcPts val="391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Inbound Estratégico:</a:t>
            </a:r>
            <a:r>
              <a:rPr lang="en-US" sz="27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SEO focado em buscas de "documentação simplificada" e "melhores bibliotecas", captando o usuário no momento exato da dor.</a:t>
            </a:r>
          </a:p>
          <a:p>
            <a:pPr algn="just">
              <a:lnSpc>
                <a:spcPts val="3916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82322" y="721364"/>
            <a:ext cx="9923355" cy="189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5"/>
              </a:lnSpc>
            </a:pPr>
            <a:r>
              <a:rPr lang="en-US" sz="5468" b="true">
                <a:solidFill>
                  <a:srgbClr val="C1E3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Estratégia Go-to-Market: Como chegaremos ao topo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45426" y="4340354"/>
            <a:ext cx="7597148" cy="200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3"/>
              </a:lnSpc>
            </a:pPr>
            <a:r>
              <a:rPr lang="en-US" b="true" sz="15822" spc="-332">
                <a:solidFill>
                  <a:srgbClr val="D9D9D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TIMING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4882" y="2308846"/>
            <a:ext cx="6313856" cy="57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5"/>
              </a:lnSpc>
            </a:pPr>
            <a:r>
              <a:rPr lang="en-US" sz="3346" b="true">
                <a:solidFill>
                  <a:srgbClr val="C1E3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01 - Alicerce e Infraestrutura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725215" y="2306861"/>
            <a:ext cx="6494436" cy="574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5"/>
              </a:lnSpc>
            </a:pPr>
            <a:r>
              <a:rPr lang="en-US" sz="3346" b="true">
                <a:solidFill>
                  <a:srgbClr val="C1E3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03 - Integração Front/interface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64882" y="6295995"/>
            <a:ext cx="3738642" cy="574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5"/>
              </a:lnSpc>
            </a:pPr>
            <a:r>
              <a:rPr lang="en-US" sz="3346" b="true">
                <a:solidFill>
                  <a:srgbClr val="C1E3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02 - Backend e DB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25215" y="6295995"/>
            <a:ext cx="6748039" cy="574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5"/>
              </a:lnSpc>
            </a:pPr>
            <a:r>
              <a:rPr lang="en-US" sz="3346" b="true">
                <a:solidFill>
                  <a:srgbClr val="C1E3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04 - Homologação e lançamento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37167" y="371317"/>
            <a:ext cx="6813666" cy="92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5"/>
              </a:lnSpc>
            </a:pPr>
            <a:r>
              <a:rPr lang="en-US" sz="5468" b="true">
                <a:solidFill>
                  <a:srgbClr val="C1E3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ROADMAP (MACRO)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6314" y="2995360"/>
            <a:ext cx="6542424" cy="283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460" indent="-291230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Co</a:t>
            </a:r>
            <a:r>
              <a:rPr lang="en-US" sz="2697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nsolidação do Documento de Visão e Especificação de Requisitos.</a:t>
            </a:r>
          </a:p>
          <a:p>
            <a:pPr algn="l" marL="582460" indent="-291230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 Modelagem Lógica do banco de dados (DER) e Dicionário de Dados.</a:t>
            </a:r>
          </a:p>
          <a:p>
            <a:pPr algn="l">
              <a:lnSpc>
                <a:spcPts val="377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598413" y="2863381"/>
            <a:ext cx="6542424" cy="188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460" indent="-291230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Desenvolvimento dos protótipos</a:t>
            </a:r>
          </a:p>
          <a:p>
            <a:pPr algn="l" marL="582460" indent="-291230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Conexão API + telas</a:t>
            </a:r>
          </a:p>
          <a:p>
            <a:pPr algn="l" marL="582460" indent="-291230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Aplicação visual das regras de negócio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25215" y="6898769"/>
            <a:ext cx="6542424" cy="140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460" indent="-291230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Testes de integração e validação</a:t>
            </a:r>
          </a:p>
          <a:p>
            <a:pPr algn="l" marL="582460" indent="-291230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Refinamento de Performance</a:t>
            </a:r>
          </a:p>
          <a:p>
            <a:pPr algn="l" marL="582460" indent="-291230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Entrega do MVP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6314" y="6927344"/>
            <a:ext cx="4634419" cy="139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460" indent="-291230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Ambie</a:t>
            </a:r>
            <a:r>
              <a:rPr lang="en-US" sz="2697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nte em conteiners</a:t>
            </a:r>
          </a:p>
          <a:p>
            <a:pPr algn="l" marL="582460" indent="-291230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697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amadas da API</a:t>
            </a:r>
          </a:p>
          <a:p>
            <a:pPr algn="l" marL="582460" indent="-291230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Endpoints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26971" y="4725670"/>
            <a:ext cx="6834057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D9D9D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TECNOLOGIA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12266" y="7865701"/>
            <a:ext cx="5301625" cy="1985699"/>
          </a:xfrm>
          <a:custGeom>
            <a:avLst/>
            <a:gdLst/>
            <a:ahLst/>
            <a:cxnLst/>
            <a:rect r="r" b="b" t="t" l="l"/>
            <a:pathLst>
              <a:path h="1985699" w="5301625">
                <a:moveTo>
                  <a:pt x="0" y="0"/>
                </a:moveTo>
                <a:lnTo>
                  <a:pt x="5301624" y="0"/>
                </a:lnTo>
                <a:lnTo>
                  <a:pt x="5301624" y="1985700"/>
                </a:lnTo>
                <a:lnTo>
                  <a:pt x="0" y="1985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93953" y="7234684"/>
            <a:ext cx="3377086" cy="2818332"/>
          </a:xfrm>
          <a:custGeom>
            <a:avLst/>
            <a:gdLst/>
            <a:ahLst/>
            <a:cxnLst/>
            <a:rect r="r" b="b" t="t" l="l"/>
            <a:pathLst>
              <a:path h="2818332" w="3377086">
                <a:moveTo>
                  <a:pt x="0" y="0"/>
                </a:moveTo>
                <a:lnTo>
                  <a:pt x="3377086" y="0"/>
                </a:lnTo>
                <a:lnTo>
                  <a:pt x="3377086" y="2818332"/>
                </a:lnTo>
                <a:lnTo>
                  <a:pt x="0" y="2818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574590"/>
            <a:ext cx="16370381" cy="378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460" indent="-291230" lvl="1">
              <a:lnSpc>
                <a:spcPts val="377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Infr</a:t>
            </a:r>
            <a:r>
              <a:rPr lang="en-US" b="true" sz="26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aestrutura Ágil e Escalável:</a:t>
            </a:r>
            <a:r>
              <a:rPr lang="en-US" sz="26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Construída para suportar crescimento acelerado, garantindo respostas rápidas aos usuários mesmo em alta demanda.</a:t>
            </a:r>
          </a:p>
          <a:p>
            <a:pPr algn="just" marL="582460" indent="-291230" lvl="1">
              <a:lnSpc>
                <a:spcPts val="3776"/>
              </a:lnSpc>
              <a:buFont typeface="Arial"/>
              <a:buChar char="•"/>
            </a:pPr>
            <a:r>
              <a:rPr lang="en-US" b="true" sz="26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</a:t>
            </a:r>
            <a:r>
              <a:rPr lang="en-US" b="true" sz="26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eriência do Usuário (UX) Fluida:</a:t>
            </a:r>
            <a:r>
              <a:rPr lang="en-US" sz="26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Arquitetura moderna com interfaces desacopladas, focada em maximizar o engajamento e a retenção.</a:t>
            </a:r>
          </a:p>
          <a:p>
            <a:pPr algn="just" marL="582460" indent="-291230" lvl="1">
              <a:lnSpc>
                <a:spcPts val="3776"/>
              </a:lnSpc>
              <a:buFont typeface="Arial"/>
              <a:buChar char="•"/>
            </a:pPr>
            <a:r>
              <a:rPr lang="en-US" b="true" sz="26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Segurança e Integridade de Dados:</a:t>
            </a:r>
            <a:r>
              <a:rPr lang="en-US" sz="26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Fundação robusta de nível corporativo, assegurando que as informações dos nossos usuários e parceiros estejam protegidas e consistentes.</a:t>
            </a:r>
          </a:p>
          <a:p>
            <a:pPr algn="just" marL="582460" indent="-291230" lvl="1">
              <a:lnSpc>
                <a:spcPts val="3776"/>
              </a:lnSpc>
              <a:buFont typeface="Arial"/>
              <a:buChar char="•"/>
            </a:pPr>
            <a:r>
              <a:rPr lang="en-US" b="true" sz="26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Agilidade no Desenvolvimento:</a:t>
            </a:r>
            <a:r>
              <a:rPr lang="en-US" sz="26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Estrutura modular que permite a rápida implementação de novas funcionalidades e atualizações constantes do produto.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05504" y="933450"/>
            <a:ext cx="10876992" cy="189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5"/>
              </a:lnSpc>
            </a:pPr>
            <a:r>
              <a:rPr lang="en-US" sz="5468" b="true">
                <a:solidFill>
                  <a:srgbClr val="C1E3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Tecnologia de Alta Performance &amp; Escalabilidade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9073" y="4249420"/>
            <a:ext cx="8749854" cy="197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D9D9D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DEMONSTRAÇÃO VISUAL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7306" y="1350026"/>
            <a:ext cx="6211596" cy="3222265"/>
          </a:xfrm>
          <a:custGeom>
            <a:avLst/>
            <a:gdLst/>
            <a:ahLst/>
            <a:cxnLst/>
            <a:rect r="r" b="b" t="t" l="l"/>
            <a:pathLst>
              <a:path h="3222265" w="6211596">
                <a:moveTo>
                  <a:pt x="0" y="0"/>
                </a:moveTo>
                <a:lnTo>
                  <a:pt x="6211596" y="0"/>
                </a:lnTo>
                <a:lnTo>
                  <a:pt x="6211596" y="3222265"/>
                </a:lnTo>
                <a:lnTo>
                  <a:pt x="0" y="32222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7306" y="5764277"/>
            <a:ext cx="6211596" cy="3222265"/>
          </a:xfrm>
          <a:custGeom>
            <a:avLst/>
            <a:gdLst/>
            <a:ahLst/>
            <a:cxnLst/>
            <a:rect r="r" b="b" t="t" l="l"/>
            <a:pathLst>
              <a:path h="3222265" w="6211596">
                <a:moveTo>
                  <a:pt x="0" y="0"/>
                </a:moveTo>
                <a:lnTo>
                  <a:pt x="6211596" y="0"/>
                </a:lnTo>
                <a:lnTo>
                  <a:pt x="6211596" y="3222266"/>
                </a:lnTo>
                <a:lnTo>
                  <a:pt x="0" y="3222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47931" y="3868294"/>
            <a:ext cx="6337631" cy="3287646"/>
          </a:xfrm>
          <a:custGeom>
            <a:avLst/>
            <a:gdLst/>
            <a:ahLst/>
            <a:cxnLst/>
            <a:rect r="r" b="b" t="t" l="l"/>
            <a:pathLst>
              <a:path h="3287646" w="6337631">
                <a:moveTo>
                  <a:pt x="0" y="0"/>
                </a:moveTo>
                <a:lnTo>
                  <a:pt x="6337631" y="0"/>
                </a:lnTo>
                <a:lnTo>
                  <a:pt x="6337631" y="3287646"/>
                </a:lnTo>
                <a:lnTo>
                  <a:pt x="0" y="3287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83179" y="602326"/>
            <a:ext cx="1339850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14671" y="4964121"/>
            <a:ext cx="1344454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54411" y="3064385"/>
            <a:ext cx="1798637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Suporte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6008" y="1028700"/>
            <a:ext cx="7184327" cy="3726870"/>
          </a:xfrm>
          <a:custGeom>
            <a:avLst/>
            <a:gdLst/>
            <a:ahLst/>
            <a:cxnLst/>
            <a:rect r="r" b="b" t="t" l="l"/>
            <a:pathLst>
              <a:path h="3726870" w="7184327">
                <a:moveTo>
                  <a:pt x="0" y="0"/>
                </a:moveTo>
                <a:lnTo>
                  <a:pt x="7184327" y="0"/>
                </a:lnTo>
                <a:lnTo>
                  <a:pt x="7184327" y="3726870"/>
                </a:lnTo>
                <a:lnTo>
                  <a:pt x="0" y="3726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36968" y="1028700"/>
            <a:ext cx="7219118" cy="3726870"/>
          </a:xfrm>
          <a:custGeom>
            <a:avLst/>
            <a:gdLst/>
            <a:ahLst/>
            <a:cxnLst/>
            <a:rect r="r" b="b" t="t" l="l"/>
            <a:pathLst>
              <a:path h="3726870" w="7219118">
                <a:moveTo>
                  <a:pt x="0" y="0"/>
                </a:moveTo>
                <a:lnTo>
                  <a:pt x="7219118" y="0"/>
                </a:lnTo>
                <a:lnTo>
                  <a:pt x="7219118" y="3726870"/>
                </a:lnTo>
                <a:lnTo>
                  <a:pt x="0" y="3726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44985" y="5852159"/>
            <a:ext cx="6885350" cy="3554562"/>
          </a:xfrm>
          <a:custGeom>
            <a:avLst/>
            <a:gdLst/>
            <a:ahLst/>
            <a:cxnLst/>
            <a:rect r="r" b="b" t="t" l="l"/>
            <a:pathLst>
              <a:path h="3554562" w="6885350">
                <a:moveTo>
                  <a:pt x="0" y="0"/>
                </a:moveTo>
                <a:lnTo>
                  <a:pt x="6885350" y="0"/>
                </a:lnTo>
                <a:lnTo>
                  <a:pt x="6885350" y="3554562"/>
                </a:lnTo>
                <a:lnTo>
                  <a:pt x="0" y="35545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36968" y="5852159"/>
            <a:ext cx="7219118" cy="3726870"/>
          </a:xfrm>
          <a:custGeom>
            <a:avLst/>
            <a:gdLst/>
            <a:ahLst/>
            <a:cxnLst/>
            <a:rect r="r" b="b" t="t" l="l"/>
            <a:pathLst>
              <a:path h="3726870" w="7219118">
                <a:moveTo>
                  <a:pt x="0" y="0"/>
                </a:moveTo>
                <a:lnTo>
                  <a:pt x="7219118" y="0"/>
                </a:lnTo>
                <a:lnTo>
                  <a:pt x="7219118" y="3726870"/>
                </a:lnTo>
                <a:lnTo>
                  <a:pt x="0" y="3726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25237" y="249062"/>
            <a:ext cx="1225867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16436" y="4963822"/>
            <a:ext cx="1460183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Admin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64412" y="4963822"/>
            <a:ext cx="2446496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33702" y="249062"/>
            <a:ext cx="2025650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Cadastro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28986" y="4725670"/>
            <a:ext cx="11230029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D9D9D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MODELO DE NEGÓCIO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1830" y="2842563"/>
            <a:ext cx="16964341" cy="692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050" indent="-302025" lvl="1">
              <a:lnSpc>
                <a:spcPts val="391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Estratégia de Aquisição (B2C):</a:t>
            </a:r>
            <a:r>
              <a:rPr lang="en-US" sz="27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Modelo Freemium focado em tração rápida. O acesso à base pública de bibliotecas é 100% gratuito, eliminando barreiras de entrada para estudantes e desenvolvedores.</a:t>
            </a:r>
          </a:p>
          <a:p>
            <a:pPr algn="just" marL="604050" indent="-302025" lvl="1">
              <a:lnSpc>
                <a:spcPts val="391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Monetização B2B (Eixo Principal):</a:t>
            </a:r>
            <a:r>
              <a:rPr lang="en-US" sz="27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Implementação da "Via Única Comercial". A plataforma atua como um canal de alta conversão para:</a:t>
            </a:r>
          </a:p>
          <a:p>
            <a:pPr algn="just" marL="604050" indent="-302025" lvl="1">
              <a:lnSpc>
                <a:spcPts val="391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Sponsorships:</a:t>
            </a:r>
            <a:r>
              <a:rPr lang="en-US" sz="27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Cotas de patrocínio para Instituições de Ensino e Cloud Providers (AWS, Azure, Google Cloud).</a:t>
            </a:r>
          </a:p>
          <a:p>
            <a:pPr algn="just" marL="604050" indent="-302025" lvl="1">
              <a:lnSpc>
                <a:spcPts val="391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Targeted Ads:</a:t>
            </a:r>
            <a:r>
              <a:rPr lang="en-US" sz="27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Anúncios segmentados para empresas de recrutamento técnico (Tech Recrutiers) que buscam profissionais qualificados em stacks específicas.</a:t>
            </a:r>
          </a:p>
          <a:p>
            <a:pPr algn="just" marL="604050" indent="-302025" lvl="1">
              <a:lnSpc>
                <a:spcPts val="391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Conversão Premium:</a:t>
            </a:r>
            <a:r>
              <a:rPr lang="en-US" sz="27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Planos "Pro" para usuários avançados que demandam privacidade (links privados ilimitados) e inteligência de dados (Dashboards de produtividade).</a:t>
            </a:r>
          </a:p>
          <a:p>
            <a:pPr algn="just" marL="604050" indent="-302025" lvl="1">
              <a:lnSpc>
                <a:spcPts val="391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Sustentabilidade: </a:t>
            </a:r>
            <a:r>
              <a:rPr lang="en-US" sz="27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Canal de apoio via Community Funding (ex: GitHub Sponsors), fortalecendo o posicionamento da marca no ecossistema Open Source.</a:t>
            </a:r>
          </a:p>
          <a:p>
            <a:pPr algn="just">
              <a:lnSpc>
                <a:spcPts val="3916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38743" y="545266"/>
            <a:ext cx="13210514" cy="189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5"/>
              </a:lnSpc>
            </a:pPr>
            <a:r>
              <a:rPr lang="en-US" sz="5468" b="true">
                <a:solidFill>
                  <a:srgbClr val="C1E3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de Negócio: Ecossistema de Valor e Monetização B2B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19313" y="4725670"/>
            <a:ext cx="7649374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D9D9D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INVESTIMENTO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1830" y="3385532"/>
            <a:ext cx="16964341" cy="494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050" indent="-302025" lvl="1">
              <a:lnSpc>
                <a:spcPts val="391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Inve</a:t>
            </a:r>
            <a:r>
              <a:rPr lang="en-US" b="true" sz="27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stimento Inicial (MVP): </a:t>
            </a:r>
            <a:r>
              <a:rPr lang="en-US" sz="27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Avaliado em R$ 25.000,00.</a:t>
            </a:r>
          </a:p>
          <a:p>
            <a:pPr algn="just" marL="604050" indent="-302025" lvl="1">
              <a:lnSpc>
                <a:spcPts val="391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Estrutura de Custo:</a:t>
            </a:r>
            <a:r>
              <a:rPr lang="en-US" sz="27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Desenvolvimento executado em 3 meses por uma Squad de 5 desenvolvedores + custos de infraestrutura escalável (Cloud).</a:t>
            </a:r>
          </a:p>
          <a:p>
            <a:pPr algn="just" marL="604050" indent="-302025" lvl="1">
              <a:lnSpc>
                <a:spcPts val="391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Valuation e Equity:</a:t>
            </a:r>
            <a:r>
              <a:rPr lang="en-US" sz="27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O valor de mercado da FiveLib não se baseia apenas no software, mas na captação de leads qualificados.</a:t>
            </a:r>
          </a:p>
          <a:p>
            <a:pPr algn="just" marL="604050" indent="-302025" lvl="1">
              <a:lnSpc>
                <a:spcPts val="3916"/>
              </a:lnSpc>
              <a:spcBef>
                <a:spcPct val="0"/>
              </a:spcBef>
              <a:buFont typeface="Arial"/>
              <a:buChar char="•"/>
            </a:pPr>
            <a:r>
              <a:rPr lang="en-US" sz="27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Diferencial Competitivo (Moat): A plataforma centraliza dados de interesse tecnológico de milhares de estudantes, criando um ativo valioso para o setor de RH Tech.</a:t>
            </a:r>
          </a:p>
          <a:p>
            <a:pPr algn="just" marL="604050" indent="-302025" lvl="1">
              <a:lnSpc>
                <a:spcPts val="391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Métrica de Valor:</a:t>
            </a:r>
            <a:r>
              <a:rPr lang="en-US" sz="279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O Valuation é impulsionado pela redução do CPL (Custo por Lead) para empresas parceiras, transformando tráfego orgânico em receita recorrente.</a:t>
            </a:r>
          </a:p>
          <a:p>
            <a:pPr algn="just">
              <a:lnSpc>
                <a:spcPts val="3916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45670" y="933450"/>
            <a:ext cx="11996660" cy="189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5"/>
              </a:lnSpc>
            </a:pPr>
            <a:r>
              <a:rPr lang="en-US" sz="5468" b="true">
                <a:solidFill>
                  <a:srgbClr val="C1E3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Investimento, Custos e Potencial de Mercado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672986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15551" y="4725670"/>
            <a:ext cx="11456898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D9D9D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ACOMPANHE A GENTE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46093" y="4725670"/>
            <a:ext cx="3795815" cy="10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D9D9D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EQUIPE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64683" y="555796"/>
            <a:ext cx="6532795" cy="2002339"/>
            <a:chOff x="0" y="0"/>
            <a:chExt cx="122151957" cy="37440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151961" cy="37440887"/>
            </a:xfrm>
            <a:custGeom>
              <a:avLst/>
              <a:gdLst/>
              <a:ahLst/>
              <a:cxnLst/>
              <a:rect r="r" b="b" t="t" l="l"/>
              <a:pathLst>
                <a:path h="37440887" w="122151961">
                  <a:moveTo>
                    <a:pt x="122151961" y="21332"/>
                  </a:moveTo>
                  <a:lnTo>
                    <a:pt x="122151961" y="37419555"/>
                  </a:lnTo>
                  <a:cubicBezTo>
                    <a:pt x="122151961" y="37425213"/>
                    <a:pt x="122149716" y="37430639"/>
                    <a:pt x="122145710" y="37434639"/>
                  </a:cubicBezTo>
                  <a:cubicBezTo>
                    <a:pt x="122141717" y="37438639"/>
                    <a:pt x="122136284" y="37440887"/>
                    <a:pt x="122130629" y="37440887"/>
                  </a:cubicBezTo>
                  <a:lnTo>
                    <a:pt x="21332" y="37440887"/>
                  </a:lnTo>
                  <a:cubicBezTo>
                    <a:pt x="15674" y="37440887"/>
                    <a:pt x="10248" y="37438639"/>
                    <a:pt x="6248" y="37434639"/>
                  </a:cubicBezTo>
                  <a:cubicBezTo>
                    <a:pt x="2247" y="37430639"/>
                    <a:pt x="0" y="37425213"/>
                    <a:pt x="0" y="37419555"/>
                  </a:cubicBezTo>
                  <a:lnTo>
                    <a:pt x="0" y="21332"/>
                  </a:lnTo>
                  <a:cubicBezTo>
                    <a:pt x="0" y="15674"/>
                    <a:pt x="2247" y="10248"/>
                    <a:pt x="6248" y="6248"/>
                  </a:cubicBezTo>
                  <a:cubicBezTo>
                    <a:pt x="10248" y="2247"/>
                    <a:pt x="15674" y="0"/>
                    <a:pt x="21332" y="0"/>
                  </a:cubicBezTo>
                  <a:lnTo>
                    <a:pt x="122130629" y="0"/>
                  </a:lnTo>
                  <a:cubicBezTo>
                    <a:pt x="122136284" y="0"/>
                    <a:pt x="122141717" y="2247"/>
                    <a:pt x="122145710" y="6248"/>
                  </a:cubicBezTo>
                  <a:cubicBezTo>
                    <a:pt x="122149716" y="10248"/>
                    <a:pt x="122151961" y="15674"/>
                    <a:pt x="122151961" y="21332"/>
                  </a:cubicBezTo>
                  <a:close/>
                </a:path>
              </a:pathLst>
            </a:custGeom>
            <a:solidFill>
              <a:srgbClr val="C1E32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22151957" cy="37526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264683" y="555796"/>
            <a:ext cx="1978071" cy="2002339"/>
            <a:chOff x="0" y="0"/>
            <a:chExt cx="6273038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73038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73038">
                  <a:moveTo>
                    <a:pt x="0" y="307848"/>
                  </a:moveTo>
                  <a:cubicBezTo>
                    <a:pt x="0" y="137795"/>
                    <a:pt x="137795" y="0"/>
                    <a:pt x="307848" y="0"/>
                  </a:cubicBezTo>
                  <a:lnTo>
                    <a:pt x="5965190" y="0"/>
                  </a:lnTo>
                  <a:cubicBezTo>
                    <a:pt x="6135243" y="0"/>
                    <a:pt x="6273038" y="137795"/>
                    <a:pt x="6273038" y="307848"/>
                  </a:cubicBezTo>
                  <a:lnTo>
                    <a:pt x="6273038" y="6042152"/>
                  </a:lnTo>
                  <a:cubicBezTo>
                    <a:pt x="6273038" y="6212205"/>
                    <a:pt x="6135243" y="6350000"/>
                    <a:pt x="5965190" y="6350000"/>
                  </a:cubicBezTo>
                  <a:lnTo>
                    <a:pt x="307848" y="6350000"/>
                  </a:lnTo>
                  <a:cubicBezTo>
                    <a:pt x="137795" y="6350000"/>
                    <a:pt x="0" y="6212205"/>
                    <a:pt x="0" y="6042152"/>
                  </a:cubicBezTo>
                  <a:lnTo>
                    <a:pt x="0" y="307848"/>
                  </a:lnTo>
                  <a:close/>
                </a:path>
              </a:pathLst>
            </a:custGeom>
            <a:blipFill>
              <a:blip r:embed="rId2"/>
              <a:stretch>
                <a:fillRect l="-613" t="0" r="-613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73038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73038">
                  <a:moveTo>
                    <a:pt x="6273038" y="307848"/>
                  </a:moveTo>
                  <a:lnTo>
                    <a:pt x="6273038" y="6042152"/>
                  </a:lnTo>
                  <a:cubicBezTo>
                    <a:pt x="6273038" y="6211824"/>
                    <a:pt x="6134989" y="6350000"/>
                    <a:pt x="5965190" y="6350000"/>
                  </a:cubicBezTo>
                  <a:lnTo>
                    <a:pt x="307975" y="6350000"/>
                  </a:lnTo>
                  <a:cubicBezTo>
                    <a:pt x="138176" y="6350000"/>
                    <a:pt x="0" y="6211824"/>
                    <a:pt x="0" y="6042152"/>
                  </a:cubicBezTo>
                  <a:lnTo>
                    <a:pt x="0" y="307848"/>
                  </a:lnTo>
                  <a:cubicBezTo>
                    <a:pt x="0" y="138176"/>
                    <a:pt x="138176" y="0"/>
                    <a:pt x="307975" y="0"/>
                  </a:cubicBezTo>
                  <a:lnTo>
                    <a:pt x="5965190" y="0"/>
                  </a:lnTo>
                  <a:cubicBezTo>
                    <a:pt x="6134989" y="0"/>
                    <a:pt x="6273038" y="138176"/>
                    <a:pt x="6273038" y="307848"/>
                  </a:cubicBezTo>
                  <a:close/>
                </a:path>
              </a:pathLst>
            </a:custGeom>
            <a:blipFill>
              <a:blip r:embed="rId3"/>
              <a:stretch>
                <a:fillRect l="-44" t="0" r="-4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264683" y="2940597"/>
            <a:ext cx="6532795" cy="2002339"/>
            <a:chOff x="0" y="0"/>
            <a:chExt cx="122151957" cy="374408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2151961" cy="37440887"/>
            </a:xfrm>
            <a:custGeom>
              <a:avLst/>
              <a:gdLst/>
              <a:ahLst/>
              <a:cxnLst/>
              <a:rect r="r" b="b" t="t" l="l"/>
              <a:pathLst>
                <a:path h="37440887" w="122151961">
                  <a:moveTo>
                    <a:pt x="122151961" y="21332"/>
                  </a:moveTo>
                  <a:lnTo>
                    <a:pt x="122151961" y="37419555"/>
                  </a:lnTo>
                  <a:cubicBezTo>
                    <a:pt x="122151961" y="37425213"/>
                    <a:pt x="122149716" y="37430639"/>
                    <a:pt x="122145710" y="37434639"/>
                  </a:cubicBezTo>
                  <a:cubicBezTo>
                    <a:pt x="122141717" y="37438639"/>
                    <a:pt x="122136284" y="37440887"/>
                    <a:pt x="122130629" y="37440887"/>
                  </a:cubicBezTo>
                  <a:lnTo>
                    <a:pt x="21332" y="37440887"/>
                  </a:lnTo>
                  <a:cubicBezTo>
                    <a:pt x="15674" y="37440887"/>
                    <a:pt x="10248" y="37438639"/>
                    <a:pt x="6248" y="37434639"/>
                  </a:cubicBezTo>
                  <a:cubicBezTo>
                    <a:pt x="2247" y="37430639"/>
                    <a:pt x="0" y="37425213"/>
                    <a:pt x="0" y="37419555"/>
                  </a:cubicBezTo>
                  <a:lnTo>
                    <a:pt x="0" y="21332"/>
                  </a:lnTo>
                  <a:cubicBezTo>
                    <a:pt x="0" y="15674"/>
                    <a:pt x="2247" y="10248"/>
                    <a:pt x="6248" y="6248"/>
                  </a:cubicBezTo>
                  <a:cubicBezTo>
                    <a:pt x="10248" y="2247"/>
                    <a:pt x="15674" y="0"/>
                    <a:pt x="21332" y="0"/>
                  </a:cubicBezTo>
                  <a:lnTo>
                    <a:pt x="122130629" y="0"/>
                  </a:lnTo>
                  <a:cubicBezTo>
                    <a:pt x="122136284" y="0"/>
                    <a:pt x="122141717" y="2247"/>
                    <a:pt x="122145710" y="6248"/>
                  </a:cubicBezTo>
                  <a:cubicBezTo>
                    <a:pt x="122149716" y="10248"/>
                    <a:pt x="122151961" y="15674"/>
                    <a:pt x="122151961" y="21332"/>
                  </a:cubicBezTo>
                  <a:close/>
                </a:path>
              </a:pathLst>
            </a:custGeom>
            <a:solidFill>
              <a:srgbClr val="C1E32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22151957" cy="37526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2264683" y="2940597"/>
            <a:ext cx="1978071" cy="2002339"/>
            <a:chOff x="0" y="0"/>
            <a:chExt cx="6273038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73038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73038">
                  <a:moveTo>
                    <a:pt x="0" y="307848"/>
                  </a:moveTo>
                  <a:cubicBezTo>
                    <a:pt x="0" y="137795"/>
                    <a:pt x="137795" y="0"/>
                    <a:pt x="307848" y="0"/>
                  </a:cubicBezTo>
                  <a:lnTo>
                    <a:pt x="5965190" y="0"/>
                  </a:lnTo>
                  <a:cubicBezTo>
                    <a:pt x="6135243" y="0"/>
                    <a:pt x="6273038" y="137795"/>
                    <a:pt x="6273038" y="307848"/>
                  </a:cubicBezTo>
                  <a:lnTo>
                    <a:pt x="6273038" y="6042152"/>
                  </a:lnTo>
                  <a:cubicBezTo>
                    <a:pt x="6273038" y="6212205"/>
                    <a:pt x="6135243" y="6350000"/>
                    <a:pt x="5965190" y="6350000"/>
                  </a:cubicBezTo>
                  <a:lnTo>
                    <a:pt x="307848" y="6350000"/>
                  </a:lnTo>
                  <a:cubicBezTo>
                    <a:pt x="137795" y="6350000"/>
                    <a:pt x="0" y="6212205"/>
                    <a:pt x="0" y="6042152"/>
                  </a:cubicBezTo>
                  <a:lnTo>
                    <a:pt x="0" y="307848"/>
                  </a:lnTo>
                  <a:close/>
                </a:path>
              </a:pathLst>
            </a:custGeom>
            <a:blipFill>
              <a:blip r:embed="rId4"/>
              <a:stretch>
                <a:fillRect l="-613" t="0" r="-613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73038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73038">
                  <a:moveTo>
                    <a:pt x="6273038" y="307848"/>
                  </a:moveTo>
                  <a:lnTo>
                    <a:pt x="6273038" y="6042152"/>
                  </a:lnTo>
                  <a:cubicBezTo>
                    <a:pt x="6273038" y="6211824"/>
                    <a:pt x="6134989" y="6350000"/>
                    <a:pt x="5965190" y="6350000"/>
                  </a:cubicBezTo>
                  <a:lnTo>
                    <a:pt x="307975" y="6350000"/>
                  </a:lnTo>
                  <a:cubicBezTo>
                    <a:pt x="138176" y="6350000"/>
                    <a:pt x="0" y="6211824"/>
                    <a:pt x="0" y="6042152"/>
                  </a:cubicBezTo>
                  <a:lnTo>
                    <a:pt x="0" y="307848"/>
                  </a:lnTo>
                  <a:cubicBezTo>
                    <a:pt x="0" y="138176"/>
                    <a:pt x="138176" y="0"/>
                    <a:pt x="307975" y="0"/>
                  </a:cubicBezTo>
                  <a:lnTo>
                    <a:pt x="5965190" y="0"/>
                  </a:lnTo>
                  <a:cubicBezTo>
                    <a:pt x="6134989" y="0"/>
                    <a:pt x="6273038" y="138176"/>
                    <a:pt x="6273038" y="307848"/>
                  </a:cubicBezTo>
                  <a:close/>
                </a:path>
              </a:pathLst>
            </a:custGeom>
            <a:blipFill>
              <a:blip r:embed="rId3"/>
              <a:stretch>
                <a:fillRect l="-44" t="0" r="-4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264683" y="5323302"/>
            <a:ext cx="6532795" cy="2002339"/>
            <a:chOff x="0" y="0"/>
            <a:chExt cx="122151957" cy="374408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2151961" cy="37440887"/>
            </a:xfrm>
            <a:custGeom>
              <a:avLst/>
              <a:gdLst/>
              <a:ahLst/>
              <a:cxnLst/>
              <a:rect r="r" b="b" t="t" l="l"/>
              <a:pathLst>
                <a:path h="37440887" w="122151961">
                  <a:moveTo>
                    <a:pt x="122151961" y="21332"/>
                  </a:moveTo>
                  <a:lnTo>
                    <a:pt x="122151961" y="37419555"/>
                  </a:lnTo>
                  <a:cubicBezTo>
                    <a:pt x="122151961" y="37425213"/>
                    <a:pt x="122149716" y="37430639"/>
                    <a:pt x="122145710" y="37434639"/>
                  </a:cubicBezTo>
                  <a:cubicBezTo>
                    <a:pt x="122141717" y="37438639"/>
                    <a:pt x="122136284" y="37440887"/>
                    <a:pt x="122130629" y="37440887"/>
                  </a:cubicBezTo>
                  <a:lnTo>
                    <a:pt x="21332" y="37440887"/>
                  </a:lnTo>
                  <a:cubicBezTo>
                    <a:pt x="15674" y="37440887"/>
                    <a:pt x="10248" y="37438639"/>
                    <a:pt x="6248" y="37434639"/>
                  </a:cubicBezTo>
                  <a:cubicBezTo>
                    <a:pt x="2247" y="37430639"/>
                    <a:pt x="0" y="37425213"/>
                    <a:pt x="0" y="37419555"/>
                  </a:cubicBezTo>
                  <a:lnTo>
                    <a:pt x="0" y="21332"/>
                  </a:lnTo>
                  <a:cubicBezTo>
                    <a:pt x="0" y="15674"/>
                    <a:pt x="2247" y="10248"/>
                    <a:pt x="6248" y="6248"/>
                  </a:cubicBezTo>
                  <a:cubicBezTo>
                    <a:pt x="10248" y="2247"/>
                    <a:pt x="15674" y="0"/>
                    <a:pt x="21332" y="0"/>
                  </a:cubicBezTo>
                  <a:lnTo>
                    <a:pt x="122130629" y="0"/>
                  </a:lnTo>
                  <a:cubicBezTo>
                    <a:pt x="122136284" y="0"/>
                    <a:pt x="122141717" y="2247"/>
                    <a:pt x="122145710" y="6248"/>
                  </a:cubicBezTo>
                  <a:cubicBezTo>
                    <a:pt x="122149716" y="10248"/>
                    <a:pt x="122151961" y="15674"/>
                    <a:pt x="122151961" y="21332"/>
                  </a:cubicBezTo>
                  <a:close/>
                </a:path>
              </a:pathLst>
            </a:custGeom>
            <a:solidFill>
              <a:srgbClr val="C1E32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22151957" cy="37526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2264683" y="5323302"/>
            <a:ext cx="1978071" cy="2002339"/>
            <a:chOff x="0" y="0"/>
            <a:chExt cx="6273038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73038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73038">
                  <a:moveTo>
                    <a:pt x="0" y="307848"/>
                  </a:moveTo>
                  <a:cubicBezTo>
                    <a:pt x="0" y="137795"/>
                    <a:pt x="137795" y="0"/>
                    <a:pt x="307848" y="0"/>
                  </a:cubicBezTo>
                  <a:lnTo>
                    <a:pt x="5965190" y="0"/>
                  </a:lnTo>
                  <a:cubicBezTo>
                    <a:pt x="6135243" y="0"/>
                    <a:pt x="6273038" y="137795"/>
                    <a:pt x="6273038" y="307848"/>
                  </a:cubicBezTo>
                  <a:lnTo>
                    <a:pt x="6273038" y="6042152"/>
                  </a:lnTo>
                  <a:cubicBezTo>
                    <a:pt x="6273038" y="6212205"/>
                    <a:pt x="6135243" y="6350000"/>
                    <a:pt x="5965190" y="6350000"/>
                  </a:cubicBezTo>
                  <a:lnTo>
                    <a:pt x="307848" y="6350000"/>
                  </a:lnTo>
                  <a:cubicBezTo>
                    <a:pt x="137795" y="6350000"/>
                    <a:pt x="0" y="6212205"/>
                    <a:pt x="0" y="6042152"/>
                  </a:cubicBezTo>
                  <a:lnTo>
                    <a:pt x="0" y="307848"/>
                  </a:lnTo>
                  <a:close/>
                </a:path>
              </a:pathLst>
            </a:custGeom>
            <a:blipFill>
              <a:blip r:embed="rId5"/>
              <a:stretch>
                <a:fillRect l="-534" t="0" r="-534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73038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73038">
                  <a:moveTo>
                    <a:pt x="6273038" y="307848"/>
                  </a:moveTo>
                  <a:lnTo>
                    <a:pt x="6273038" y="6042152"/>
                  </a:lnTo>
                  <a:cubicBezTo>
                    <a:pt x="6273038" y="6211824"/>
                    <a:pt x="6134989" y="6350000"/>
                    <a:pt x="5965190" y="6350000"/>
                  </a:cubicBezTo>
                  <a:lnTo>
                    <a:pt x="307975" y="6350000"/>
                  </a:lnTo>
                  <a:cubicBezTo>
                    <a:pt x="138176" y="6350000"/>
                    <a:pt x="0" y="6211824"/>
                    <a:pt x="0" y="6042152"/>
                  </a:cubicBezTo>
                  <a:lnTo>
                    <a:pt x="0" y="307848"/>
                  </a:lnTo>
                  <a:cubicBezTo>
                    <a:pt x="0" y="138176"/>
                    <a:pt x="138176" y="0"/>
                    <a:pt x="307975" y="0"/>
                  </a:cubicBezTo>
                  <a:lnTo>
                    <a:pt x="5965190" y="0"/>
                  </a:lnTo>
                  <a:cubicBezTo>
                    <a:pt x="6134989" y="0"/>
                    <a:pt x="6273038" y="138176"/>
                    <a:pt x="6273038" y="307848"/>
                  </a:cubicBezTo>
                  <a:close/>
                </a:path>
              </a:pathLst>
            </a:custGeom>
            <a:blipFill>
              <a:blip r:embed="rId3"/>
              <a:stretch>
                <a:fillRect l="-44" t="0" r="-44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42550" y="541511"/>
            <a:ext cx="6532795" cy="2002339"/>
            <a:chOff x="0" y="0"/>
            <a:chExt cx="122151957" cy="3744088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2151961" cy="37440887"/>
            </a:xfrm>
            <a:custGeom>
              <a:avLst/>
              <a:gdLst/>
              <a:ahLst/>
              <a:cxnLst/>
              <a:rect r="r" b="b" t="t" l="l"/>
              <a:pathLst>
                <a:path h="37440887" w="122151961">
                  <a:moveTo>
                    <a:pt x="122151961" y="21332"/>
                  </a:moveTo>
                  <a:lnTo>
                    <a:pt x="122151961" y="37419555"/>
                  </a:lnTo>
                  <a:cubicBezTo>
                    <a:pt x="122151961" y="37425213"/>
                    <a:pt x="122149716" y="37430639"/>
                    <a:pt x="122145710" y="37434639"/>
                  </a:cubicBezTo>
                  <a:cubicBezTo>
                    <a:pt x="122141717" y="37438639"/>
                    <a:pt x="122136284" y="37440887"/>
                    <a:pt x="122130629" y="37440887"/>
                  </a:cubicBezTo>
                  <a:lnTo>
                    <a:pt x="21332" y="37440887"/>
                  </a:lnTo>
                  <a:cubicBezTo>
                    <a:pt x="15674" y="37440887"/>
                    <a:pt x="10248" y="37438639"/>
                    <a:pt x="6248" y="37434639"/>
                  </a:cubicBezTo>
                  <a:cubicBezTo>
                    <a:pt x="2247" y="37430639"/>
                    <a:pt x="0" y="37425213"/>
                    <a:pt x="0" y="37419555"/>
                  </a:cubicBezTo>
                  <a:lnTo>
                    <a:pt x="0" y="21332"/>
                  </a:lnTo>
                  <a:cubicBezTo>
                    <a:pt x="0" y="15674"/>
                    <a:pt x="2247" y="10248"/>
                    <a:pt x="6248" y="6248"/>
                  </a:cubicBezTo>
                  <a:cubicBezTo>
                    <a:pt x="10248" y="2247"/>
                    <a:pt x="15674" y="0"/>
                    <a:pt x="21332" y="0"/>
                  </a:cubicBezTo>
                  <a:lnTo>
                    <a:pt x="122130629" y="0"/>
                  </a:lnTo>
                  <a:cubicBezTo>
                    <a:pt x="122136284" y="0"/>
                    <a:pt x="122141717" y="2247"/>
                    <a:pt x="122145710" y="6248"/>
                  </a:cubicBezTo>
                  <a:cubicBezTo>
                    <a:pt x="122149716" y="10248"/>
                    <a:pt x="122151961" y="15674"/>
                    <a:pt x="122151961" y="21332"/>
                  </a:cubicBezTo>
                  <a:close/>
                </a:path>
              </a:pathLst>
            </a:custGeom>
            <a:solidFill>
              <a:srgbClr val="C1E32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22151957" cy="37526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9642550" y="541511"/>
            <a:ext cx="1978071" cy="2002339"/>
            <a:chOff x="0" y="0"/>
            <a:chExt cx="6273038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73038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73038">
                  <a:moveTo>
                    <a:pt x="0" y="307848"/>
                  </a:moveTo>
                  <a:cubicBezTo>
                    <a:pt x="0" y="137795"/>
                    <a:pt x="137795" y="0"/>
                    <a:pt x="307848" y="0"/>
                  </a:cubicBezTo>
                  <a:lnTo>
                    <a:pt x="5965190" y="0"/>
                  </a:lnTo>
                  <a:cubicBezTo>
                    <a:pt x="6135243" y="0"/>
                    <a:pt x="6273038" y="137795"/>
                    <a:pt x="6273038" y="307848"/>
                  </a:cubicBezTo>
                  <a:lnTo>
                    <a:pt x="6273038" y="6042152"/>
                  </a:lnTo>
                  <a:cubicBezTo>
                    <a:pt x="6273038" y="6212205"/>
                    <a:pt x="6135243" y="6350000"/>
                    <a:pt x="5965190" y="6350000"/>
                  </a:cubicBezTo>
                  <a:lnTo>
                    <a:pt x="307848" y="6350000"/>
                  </a:lnTo>
                  <a:cubicBezTo>
                    <a:pt x="137795" y="6350000"/>
                    <a:pt x="0" y="6212205"/>
                    <a:pt x="0" y="6042152"/>
                  </a:cubicBezTo>
                  <a:lnTo>
                    <a:pt x="0" y="307848"/>
                  </a:lnTo>
                  <a:close/>
                </a:path>
              </a:pathLst>
            </a:custGeom>
            <a:blipFill>
              <a:blip r:embed="rId6"/>
              <a:stretch>
                <a:fillRect l="-613" t="0" r="-613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73038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73038">
                  <a:moveTo>
                    <a:pt x="6273038" y="307848"/>
                  </a:moveTo>
                  <a:lnTo>
                    <a:pt x="6273038" y="6042152"/>
                  </a:lnTo>
                  <a:cubicBezTo>
                    <a:pt x="6273038" y="6211824"/>
                    <a:pt x="6134989" y="6350000"/>
                    <a:pt x="5965190" y="6350000"/>
                  </a:cubicBezTo>
                  <a:lnTo>
                    <a:pt x="307975" y="6350000"/>
                  </a:lnTo>
                  <a:cubicBezTo>
                    <a:pt x="138176" y="6350000"/>
                    <a:pt x="0" y="6211824"/>
                    <a:pt x="0" y="6042152"/>
                  </a:cubicBezTo>
                  <a:lnTo>
                    <a:pt x="0" y="307848"/>
                  </a:lnTo>
                  <a:cubicBezTo>
                    <a:pt x="0" y="138176"/>
                    <a:pt x="138176" y="0"/>
                    <a:pt x="307975" y="0"/>
                  </a:cubicBezTo>
                  <a:lnTo>
                    <a:pt x="5965190" y="0"/>
                  </a:lnTo>
                  <a:cubicBezTo>
                    <a:pt x="6134989" y="0"/>
                    <a:pt x="6273038" y="138176"/>
                    <a:pt x="6273038" y="307848"/>
                  </a:cubicBezTo>
                  <a:close/>
                </a:path>
              </a:pathLst>
            </a:custGeom>
            <a:blipFill>
              <a:blip r:embed="rId3"/>
              <a:stretch>
                <a:fillRect l="-44" t="0" r="-44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42550" y="2926312"/>
            <a:ext cx="6532795" cy="2002339"/>
            <a:chOff x="0" y="0"/>
            <a:chExt cx="122151957" cy="374408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2151961" cy="37440887"/>
            </a:xfrm>
            <a:custGeom>
              <a:avLst/>
              <a:gdLst/>
              <a:ahLst/>
              <a:cxnLst/>
              <a:rect r="r" b="b" t="t" l="l"/>
              <a:pathLst>
                <a:path h="37440887" w="122151961">
                  <a:moveTo>
                    <a:pt x="122151961" y="21332"/>
                  </a:moveTo>
                  <a:lnTo>
                    <a:pt x="122151961" y="37419555"/>
                  </a:lnTo>
                  <a:cubicBezTo>
                    <a:pt x="122151961" y="37425213"/>
                    <a:pt x="122149716" y="37430639"/>
                    <a:pt x="122145710" y="37434639"/>
                  </a:cubicBezTo>
                  <a:cubicBezTo>
                    <a:pt x="122141717" y="37438639"/>
                    <a:pt x="122136284" y="37440887"/>
                    <a:pt x="122130629" y="37440887"/>
                  </a:cubicBezTo>
                  <a:lnTo>
                    <a:pt x="21332" y="37440887"/>
                  </a:lnTo>
                  <a:cubicBezTo>
                    <a:pt x="15674" y="37440887"/>
                    <a:pt x="10248" y="37438639"/>
                    <a:pt x="6248" y="37434639"/>
                  </a:cubicBezTo>
                  <a:cubicBezTo>
                    <a:pt x="2247" y="37430639"/>
                    <a:pt x="0" y="37425213"/>
                    <a:pt x="0" y="37419555"/>
                  </a:cubicBezTo>
                  <a:lnTo>
                    <a:pt x="0" y="21332"/>
                  </a:lnTo>
                  <a:cubicBezTo>
                    <a:pt x="0" y="15674"/>
                    <a:pt x="2247" y="10248"/>
                    <a:pt x="6248" y="6248"/>
                  </a:cubicBezTo>
                  <a:cubicBezTo>
                    <a:pt x="10248" y="2247"/>
                    <a:pt x="15674" y="0"/>
                    <a:pt x="21332" y="0"/>
                  </a:cubicBezTo>
                  <a:lnTo>
                    <a:pt x="122130629" y="0"/>
                  </a:lnTo>
                  <a:cubicBezTo>
                    <a:pt x="122136284" y="0"/>
                    <a:pt x="122141717" y="2247"/>
                    <a:pt x="122145710" y="6248"/>
                  </a:cubicBezTo>
                  <a:cubicBezTo>
                    <a:pt x="122149716" y="10248"/>
                    <a:pt x="122151961" y="15674"/>
                    <a:pt x="122151961" y="21332"/>
                  </a:cubicBezTo>
                  <a:close/>
                </a:path>
              </a:pathLst>
            </a:custGeom>
            <a:solidFill>
              <a:srgbClr val="C1E32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22151957" cy="37526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9642550" y="2926312"/>
            <a:ext cx="1978071" cy="2002339"/>
            <a:chOff x="0" y="0"/>
            <a:chExt cx="6273038" cy="6350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273038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73038">
                  <a:moveTo>
                    <a:pt x="0" y="307848"/>
                  </a:moveTo>
                  <a:cubicBezTo>
                    <a:pt x="0" y="137795"/>
                    <a:pt x="137795" y="0"/>
                    <a:pt x="307848" y="0"/>
                  </a:cubicBezTo>
                  <a:lnTo>
                    <a:pt x="5965190" y="0"/>
                  </a:lnTo>
                  <a:cubicBezTo>
                    <a:pt x="6135243" y="0"/>
                    <a:pt x="6273038" y="137795"/>
                    <a:pt x="6273038" y="307848"/>
                  </a:cubicBezTo>
                  <a:lnTo>
                    <a:pt x="6273038" y="6042152"/>
                  </a:lnTo>
                  <a:cubicBezTo>
                    <a:pt x="6273038" y="6212205"/>
                    <a:pt x="6135243" y="6350000"/>
                    <a:pt x="5965190" y="6350000"/>
                  </a:cubicBezTo>
                  <a:lnTo>
                    <a:pt x="307848" y="6350000"/>
                  </a:lnTo>
                  <a:cubicBezTo>
                    <a:pt x="137795" y="6350000"/>
                    <a:pt x="0" y="6212205"/>
                    <a:pt x="0" y="6042152"/>
                  </a:cubicBezTo>
                  <a:lnTo>
                    <a:pt x="0" y="307848"/>
                  </a:lnTo>
                  <a:close/>
                </a:path>
              </a:pathLst>
            </a:custGeom>
            <a:blipFill>
              <a:blip r:embed="rId7"/>
              <a:stretch>
                <a:fillRect l="-613" t="0" r="-613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73038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73038">
                  <a:moveTo>
                    <a:pt x="6273038" y="307848"/>
                  </a:moveTo>
                  <a:lnTo>
                    <a:pt x="6273038" y="6042152"/>
                  </a:lnTo>
                  <a:cubicBezTo>
                    <a:pt x="6273038" y="6211824"/>
                    <a:pt x="6134989" y="6350000"/>
                    <a:pt x="5965190" y="6350000"/>
                  </a:cubicBezTo>
                  <a:lnTo>
                    <a:pt x="307975" y="6350000"/>
                  </a:lnTo>
                  <a:cubicBezTo>
                    <a:pt x="138176" y="6350000"/>
                    <a:pt x="0" y="6211824"/>
                    <a:pt x="0" y="6042152"/>
                  </a:cubicBezTo>
                  <a:lnTo>
                    <a:pt x="0" y="307848"/>
                  </a:lnTo>
                  <a:cubicBezTo>
                    <a:pt x="0" y="138176"/>
                    <a:pt x="138176" y="0"/>
                    <a:pt x="307975" y="0"/>
                  </a:cubicBezTo>
                  <a:lnTo>
                    <a:pt x="5965190" y="0"/>
                  </a:lnTo>
                  <a:cubicBezTo>
                    <a:pt x="6134989" y="0"/>
                    <a:pt x="6273038" y="138176"/>
                    <a:pt x="6273038" y="307848"/>
                  </a:cubicBezTo>
                  <a:close/>
                </a:path>
              </a:pathLst>
            </a:custGeom>
            <a:blipFill>
              <a:blip r:embed="rId3"/>
              <a:stretch>
                <a:fillRect l="-44" t="0" r="-44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42550" y="5309017"/>
            <a:ext cx="6532795" cy="2002339"/>
            <a:chOff x="0" y="0"/>
            <a:chExt cx="122151957" cy="3744088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2151961" cy="37440887"/>
            </a:xfrm>
            <a:custGeom>
              <a:avLst/>
              <a:gdLst/>
              <a:ahLst/>
              <a:cxnLst/>
              <a:rect r="r" b="b" t="t" l="l"/>
              <a:pathLst>
                <a:path h="37440887" w="122151961">
                  <a:moveTo>
                    <a:pt x="122151961" y="21332"/>
                  </a:moveTo>
                  <a:lnTo>
                    <a:pt x="122151961" y="37419555"/>
                  </a:lnTo>
                  <a:cubicBezTo>
                    <a:pt x="122151961" y="37425213"/>
                    <a:pt x="122149716" y="37430639"/>
                    <a:pt x="122145710" y="37434639"/>
                  </a:cubicBezTo>
                  <a:cubicBezTo>
                    <a:pt x="122141717" y="37438639"/>
                    <a:pt x="122136284" y="37440887"/>
                    <a:pt x="122130629" y="37440887"/>
                  </a:cubicBezTo>
                  <a:lnTo>
                    <a:pt x="21332" y="37440887"/>
                  </a:lnTo>
                  <a:cubicBezTo>
                    <a:pt x="15674" y="37440887"/>
                    <a:pt x="10248" y="37438639"/>
                    <a:pt x="6248" y="37434639"/>
                  </a:cubicBezTo>
                  <a:cubicBezTo>
                    <a:pt x="2247" y="37430639"/>
                    <a:pt x="0" y="37425213"/>
                    <a:pt x="0" y="37419555"/>
                  </a:cubicBezTo>
                  <a:lnTo>
                    <a:pt x="0" y="21332"/>
                  </a:lnTo>
                  <a:cubicBezTo>
                    <a:pt x="0" y="15674"/>
                    <a:pt x="2247" y="10248"/>
                    <a:pt x="6248" y="6248"/>
                  </a:cubicBezTo>
                  <a:cubicBezTo>
                    <a:pt x="10248" y="2247"/>
                    <a:pt x="15674" y="0"/>
                    <a:pt x="21332" y="0"/>
                  </a:cubicBezTo>
                  <a:lnTo>
                    <a:pt x="122130629" y="0"/>
                  </a:lnTo>
                  <a:cubicBezTo>
                    <a:pt x="122136284" y="0"/>
                    <a:pt x="122141717" y="2247"/>
                    <a:pt x="122145710" y="6248"/>
                  </a:cubicBezTo>
                  <a:cubicBezTo>
                    <a:pt x="122149716" y="10248"/>
                    <a:pt x="122151961" y="15674"/>
                    <a:pt x="122151961" y="21332"/>
                  </a:cubicBezTo>
                  <a:close/>
                </a:path>
              </a:pathLst>
            </a:custGeom>
            <a:solidFill>
              <a:srgbClr val="C1E328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122151957" cy="37526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9642550" y="5309017"/>
            <a:ext cx="1978071" cy="2002339"/>
            <a:chOff x="0" y="0"/>
            <a:chExt cx="6273038" cy="6350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273038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73038">
                  <a:moveTo>
                    <a:pt x="0" y="307848"/>
                  </a:moveTo>
                  <a:cubicBezTo>
                    <a:pt x="0" y="137795"/>
                    <a:pt x="137795" y="0"/>
                    <a:pt x="307848" y="0"/>
                  </a:cubicBezTo>
                  <a:lnTo>
                    <a:pt x="5965190" y="0"/>
                  </a:lnTo>
                  <a:cubicBezTo>
                    <a:pt x="6135243" y="0"/>
                    <a:pt x="6273038" y="137795"/>
                    <a:pt x="6273038" y="307848"/>
                  </a:cubicBezTo>
                  <a:lnTo>
                    <a:pt x="6273038" y="6042152"/>
                  </a:lnTo>
                  <a:cubicBezTo>
                    <a:pt x="6273038" y="6212205"/>
                    <a:pt x="6135243" y="6350000"/>
                    <a:pt x="5965190" y="6350000"/>
                  </a:cubicBezTo>
                  <a:lnTo>
                    <a:pt x="307848" y="6350000"/>
                  </a:lnTo>
                  <a:cubicBezTo>
                    <a:pt x="137795" y="6350000"/>
                    <a:pt x="0" y="6212205"/>
                    <a:pt x="0" y="6042152"/>
                  </a:cubicBezTo>
                  <a:lnTo>
                    <a:pt x="0" y="307848"/>
                  </a:lnTo>
                  <a:close/>
                </a:path>
              </a:pathLst>
            </a:custGeom>
            <a:blipFill>
              <a:blip r:embed="rId8"/>
              <a:stretch>
                <a:fillRect l="-534" t="0" r="-534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273038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73038">
                  <a:moveTo>
                    <a:pt x="6273038" y="307848"/>
                  </a:moveTo>
                  <a:lnTo>
                    <a:pt x="6273038" y="6042152"/>
                  </a:lnTo>
                  <a:cubicBezTo>
                    <a:pt x="6273038" y="6211824"/>
                    <a:pt x="6134989" y="6350000"/>
                    <a:pt x="5965190" y="6350000"/>
                  </a:cubicBezTo>
                  <a:lnTo>
                    <a:pt x="307975" y="6350000"/>
                  </a:lnTo>
                  <a:cubicBezTo>
                    <a:pt x="138176" y="6350000"/>
                    <a:pt x="0" y="6211824"/>
                    <a:pt x="0" y="6042152"/>
                  </a:cubicBezTo>
                  <a:lnTo>
                    <a:pt x="0" y="307848"/>
                  </a:lnTo>
                  <a:cubicBezTo>
                    <a:pt x="0" y="138176"/>
                    <a:pt x="138176" y="0"/>
                    <a:pt x="307975" y="0"/>
                  </a:cubicBezTo>
                  <a:lnTo>
                    <a:pt x="5965190" y="0"/>
                  </a:lnTo>
                  <a:cubicBezTo>
                    <a:pt x="6134989" y="0"/>
                    <a:pt x="6273038" y="138176"/>
                    <a:pt x="6273038" y="307848"/>
                  </a:cubicBezTo>
                  <a:close/>
                </a:path>
              </a:pathLst>
            </a:custGeom>
            <a:blipFill>
              <a:blip r:embed="rId3"/>
              <a:stretch>
                <a:fillRect l="-44" t="0" r="-44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264683" y="7706008"/>
            <a:ext cx="6532795" cy="2002339"/>
            <a:chOff x="0" y="0"/>
            <a:chExt cx="122151957" cy="3744088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2151961" cy="37440887"/>
            </a:xfrm>
            <a:custGeom>
              <a:avLst/>
              <a:gdLst/>
              <a:ahLst/>
              <a:cxnLst/>
              <a:rect r="r" b="b" t="t" l="l"/>
              <a:pathLst>
                <a:path h="37440887" w="122151961">
                  <a:moveTo>
                    <a:pt x="122151961" y="21332"/>
                  </a:moveTo>
                  <a:lnTo>
                    <a:pt x="122151961" y="37419555"/>
                  </a:lnTo>
                  <a:cubicBezTo>
                    <a:pt x="122151961" y="37425213"/>
                    <a:pt x="122149716" y="37430639"/>
                    <a:pt x="122145710" y="37434639"/>
                  </a:cubicBezTo>
                  <a:cubicBezTo>
                    <a:pt x="122141717" y="37438639"/>
                    <a:pt x="122136284" y="37440887"/>
                    <a:pt x="122130629" y="37440887"/>
                  </a:cubicBezTo>
                  <a:lnTo>
                    <a:pt x="21332" y="37440887"/>
                  </a:lnTo>
                  <a:cubicBezTo>
                    <a:pt x="15674" y="37440887"/>
                    <a:pt x="10248" y="37438639"/>
                    <a:pt x="6248" y="37434639"/>
                  </a:cubicBezTo>
                  <a:cubicBezTo>
                    <a:pt x="2247" y="37430639"/>
                    <a:pt x="0" y="37425213"/>
                    <a:pt x="0" y="37419555"/>
                  </a:cubicBezTo>
                  <a:lnTo>
                    <a:pt x="0" y="21332"/>
                  </a:lnTo>
                  <a:cubicBezTo>
                    <a:pt x="0" y="15674"/>
                    <a:pt x="2247" y="10248"/>
                    <a:pt x="6248" y="6248"/>
                  </a:cubicBezTo>
                  <a:cubicBezTo>
                    <a:pt x="10248" y="2247"/>
                    <a:pt x="15674" y="0"/>
                    <a:pt x="21332" y="0"/>
                  </a:cubicBezTo>
                  <a:lnTo>
                    <a:pt x="122130629" y="0"/>
                  </a:lnTo>
                  <a:cubicBezTo>
                    <a:pt x="122136284" y="0"/>
                    <a:pt x="122141717" y="2247"/>
                    <a:pt x="122145710" y="6248"/>
                  </a:cubicBezTo>
                  <a:cubicBezTo>
                    <a:pt x="122149716" y="10248"/>
                    <a:pt x="122151961" y="15674"/>
                    <a:pt x="122151961" y="21332"/>
                  </a:cubicBezTo>
                  <a:close/>
                </a:path>
              </a:pathLst>
            </a:custGeom>
            <a:solidFill>
              <a:srgbClr val="C1E328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122151957" cy="37526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>
            <a:grpSpLocks noChangeAspect="true"/>
          </p:cNvGrpSpPr>
          <p:nvPr/>
        </p:nvGrpSpPr>
        <p:grpSpPr>
          <a:xfrm rot="0">
            <a:off x="2264683" y="7706008"/>
            <a:ext cx="1978071" cy="2002339"/>
            <a:chOff x="0" y="0"/>
            <a:chExt cx="6273038" cy="6350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273038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73038">
                  <a:moveTo>
                    <a:pt x="0" y="307848"/>
                  </a:moveTo>
                  <a:cubicBezTo>
                    <a:pt x="0" y="137795"/>
                    <a:pt x="137795" y="0"/>
                    <a:pt x="307848" y="0"/>
                  </a:cubicBezTo>
                  <a:lnTo>
                    <a:pt x="5965190" y="0"/>
                  </a:lnTo>
                  <a:cubicBezTo>
                    <a:pt x="6135243" y="0"/>
                    <a:pt x="6273038" y="137795"/>
                    <a:pt x="6273038" y="307848"/>
                  </a:cubicBezTo>
                  <a:lnTo>
                    <a:pt x="6273038" y="6042152"/>
                  </a:lnTo>
                  <a:cubicBezTo>
                    <a:pt x="6273038" y="6212205"/>
                    <a:pt x="6135243" y="6350000"/>
                    <a:pt x="5965190" y="6350000"/>
                  </a:cubicBezTo>
                  <a:lnTo>
                    <a:pt x="307848" y="6350000"/>
                  </a:lnTo>
                  <a:cubicBezTo>
                    <a:pt x="137795" y="6350000"/>
                    <a:pt x="0" y="6212205"/>
                    <a:pt x="0" y="6042152"/>
                  </a:cubicBezTo>
                  <a:lnTo>
                    <a:pt x="0" y="307848"/>
                  </a:lnTo>
                  <a:close/>
                </a:path>
              </a:pathLst>
            </a:custGeom>
            <a:blipFill>
              <a:blip r:embed="rId9"/>
              <a:stretch>
                <a:fillRect l="-17484" t="0" r="-17484" b="0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73038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73038">
                  <a:moveTo>
                    <a:pt x="6273038" y="307848"/>
                  </a:moveTo>
                  <a:lnTo>
                    <a:pt x="6273038" y="6042152"/>
                  </a:lnTo>
                  <a:cubicBezTo>
                    <a:pt x="6273038" y="6211824"/>
                    <a:pt x="6134989" y="6350000"/>
                    <a:pt x="5965190" y="6350000"/>
                  </a:cubicBezTo>
                  <a:lnTo>
                    <a:pt x="307975" y="6350000"/>
                  </a:lnTo>
                  <a:cubicBezTo>
                    <a:pt x="138176" y="6350000"/>
                    <a:pt x="0" y="6211824"/>
                    <a:pt x="0" y="6042152"/>
                  </a:cubicBezTo>
                  <a:lnTo>
                    <a:pt x="0" y="307848"/>
                  </a:lnTo>
                  <a:cubicBezTo>
                    <a:pt x="0" y="138176"/>
                    <a:pt x="138176" y="0"/>
                    <a:pt x="307975" y="0"/>
                  </a:cubicBezTo>
                  <a:lnTo>
                    <a:pt x="5965190" y="0"/>
                  </a:lnTo>
                  <a:cubicBezTo>
                    <a:pt x="6134989" y="0"/>
                    <a:pt x="6273038" y="138176"/>
                    <a:pt x="6273038" y="307848"/>
                  </a:cubicBezTo>
                  <a:close/>
                </a:path>
              </a:pathLst>
            </a:custGeom>
            <a:blipFill>
              <a:blip r:embed="rId3"/>
              <a:stretch>
                <a:fillRect l="-44" t="0" r="-44" b="0"/>
              </a:stretch>
            </a:blipFill>
          </p:spPr>
        </p:sp>
      </p:grpSp>
      <p:sp>
        <p:nvSpPr>
          <p:cNvPr name="Freeform 44" id="44"/>
          <p:cNvSpPr/>
          <p:nvPr/>
        </p:nvSpPr>
        <p:spPr>
          <a:xfrm flipH="false" flipV="false" rot="2380626">
            <a:off x="16471488" y="675421"/>
            <a:ext cx="669013" cy="691649"/>
          </a:xfrm>
          <a:custGeom>
            <a:avLst/>
            <a:gdLst/>
            <a:ahLst/>
            <a:cxnLst/>
            <a:rect r="r" b="b" t="t" l="l"/>
            <a:pathLst>
              <a:path h="691649" w="669013">
                <a:moveTo>
                  <a:pt x="0" y="0"/>
                </a:moveTo>
                <a:lnTo>
                  <a:pt x="669013" y="0"/>
                </a:lnTo>
                <a:lnTo>
                  <a:pt x="669013" y="691649"/>
                </a:lnTo>
                <a:lnTo>
                  <a:pt x="0" y="6916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2380626">
            <a:off x="17427987" y="1898598"/>
            <a:ext cx="669013" cy="691649"/>
          </a:xfrm>
          <a:custGeom>
            <a:avLst/>
            <a:gdLst/>
            <a:ahLst/>
            <a:cxnLst/>
            <a:rect r="r" b="b" t="t" l="l"/>
            <a:pathLst>
              <a:path h="691649" w="669013">
                <a:moveTo>
                  <a:pt x="0" y="0"/>
                </a:moveTo>
                <a:lnTo>
                  <a:pt x="669014" y="0"/>
                </a:lnTo>
                <a:lnTo>
                  <a:pt x="669014" y="691649"/>
                </a:lnTo>
                <a:lnTo>
                  <a:pt x="0" y="6916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2380626">
            <a:off x="16587012" y="2987426"/>
            <a:ext cx="669013" cy="691649"/>
          </a:xfrm>
          <a:custGeom>
            <a:avLst/>
            <a:gdLst/>
            <a:ahLst/>
            <a:cxnLst/>
            <a:rect r="r" b="b" t="t" l="l"/>
            <a:pathLst>
              <a:path h="691649" w="669013">
                <a:moveTo>
                  <a:pt x="0" y="0"/>
                </a:moveTo>
                <a:lnTo>
                  <a:pt x="669013" y="0"/>
                </a:lnTo>
                <a:lnTo>
                  <a:pt x="669013" y="691650"/>
                </a:lnTo>
                <a:lnTo>
                  <a:pt x="0" y="6916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2380626">
            <a:off x="17543512" y="4091009"/>
            <a:ext cx="669013" cy="691649"/>
          </a:xfrm>
          <a:custGeom>
            <a:avLst/>
            <a:gdLst/>
            <a:ahLst/>
            <a:cxnLst/>
            <a:rect r="r" b="b" t="t" l="l"/>
            <a:pathLst>
              <a:path h="691649" w="669013">
                <a:moveTo>
                  <a:pt x="0" y="0"/>
                </a:moveTo>
                <a:lnTo>
                  <a:pt x="669013" y="0"/>
                </a:lnTo>
                <a:lnTo>
                  <a:pt x="669013" y="691649"/>
                </a:lnTo>
                <a:lnTo>
                  <a:pt x="0" y="6916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2380626">
            <a:off x="16739412" y="5416560"/>
            <a:ext cx="669013" cy="691649"/>
          </a:xfrm>
          <a:custGeom>
            <a:avLst/>
            <a:gdLst/>
            <a:ahLst/>
            <a:cxnLst/>
            <a:rect r="r" b="b" t="t" l="l"/>
            <a:pathLst>
              <a:path h="691649" w="669013">
                <a:moveTo>
                  <a:pt x="0" y="0"/>
                </a:moveTo>
                <a:lnTo>
                  <a:pt x="669013" y="0"/>
                </a:lnTo>
                <a:lnTo>
                  <a:pt x="669013" y="691649"/>
                </a:lnTo>
                <a:lnTo>
                  <a:pt x="0" y="6916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2380626">
            <a:off x="17543512" y="6529318"/>
            <a:ext cx="669013" cy="691649"/>
          </a:xfrm>
          <a:custGeom>
            <a:avLst/>
            <a:gdLst/>
            <a:ahLst/>
            <a:cxnLst/>
            <a:rect r="r" b="b" t="t" l="l"/>
            <a:pathLst>
              <a:path h="691649" w="669013">
                <a:moveTo>
                  <a:pt x="0" y="0"/>
                </a:moveTo>
                <a:lnTo>
                  <a:pt x="669013" y="0"/>
                </a:lnTo>
                <a:lnTo>
                  <a:pt x="669013" y="691649"/>
                </a:lnTo>
                <a:lnTo>
                  <a:pt x="0" y="6916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2380626">
            <a:off x="16739412" y="7009052"/>
            <a:ext cx="669013" cy="691649"/>
          </a:xfrm>
          <a:custGeom>
            <a:avLst/>
            <a:gdLst/>
            <a:ahLst/>
            <a:cxnLst/>
            <a:rect r="r" b="b" t="t" l="l"/>
            <a:pathLst>
              <a:path h="691649" w="669013">
                <a:moveTo>
                  <a:pt x="0" y="0"/>
                </a:moveTo>
                <a:lnTo>
                  <a:pt x="669013" y="0"/>
                </a:lnTo>
                <a:lnTo>
                  <a:pt x="669013" y="691649"/>
                </a:lnTo>
                <a:lnTo>
                  <a:pt x="0" y="6916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2380626">
            <a:off x="17695912" y="8232230"/>
            <a:ext cx="669013" cy="691649"/>
          </a:xfrm>
          <a:custGeom>
            <a:avLst/>
            <a:gdLst/>
            <a:ahLst/>
            <a:cxnLst/>
            <a:rect r="r" b="b" t="t" l="l"/>
            <a:pathLst>
              <a:path h="691649" w="669013">
                <a:moveTo>
                  <a:pt x="0" y="0"/>
                </a:moveTo>
                <a:lnTo>
                  <a:pt x="669013" y="0"/>
                </a:lnTo>
                <a:lnTo>
                  <a:pt x="669013" y="691649"/>
                </a:lnTo>
                <a:lnTo>
                  <a:pt x="0" y="6916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2380626">
            <a:off x="16854936" y="9321058"/>
            <a:ext cx="669013" cy="691649"/>
          </a:xfrm>
          <a:custGeom>
            <a:avLst/>
            <a:gdLst/>
            <a:ahLst/>
            <a:cxnLst/>
            <a:rect r="r" b="b" t="t" l="l"/>
            <a:pathLst>
              <a:path h="691649" w="669013">
                <a:moveTo>
                  <a:pt x="0" y="0"/>
                </a:moveTo>
                <a:lnTo>
                  <a:pt x="669014" y="0"/>
                </a:lnTo>
                <a:lnTo>
                  <a:pt x="669014" y="691649"/>
                </a:lnTo>
                <a:lnTo>
                  <a:pt x="0" y="6916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2380626">
            <a:off x="-76925" y="274293"/>
            <a:ext cx="669013" cy="691649"/>
          </a:xfrm>
          <a:custGeom>
            <a:avLst/>
            <a:gdLst/>
            <a:ahLst/>
            <a:cxnLst/>
            <a:rect r="r" b="b" t="t" l="l"/>
            <a:pathLst>
              <a:path h="691649" w="669013">
                <a:moveTo>
                  <a:pt x="0" y="0"/>
                </a:moveTo>
                <a:lnTo>
                  <a:pt x="669013" y="0"/>
                </a:lnTo>
                <a:lnTo>
                  <a:pt x="669013" y="691649"/>
                </a:lnTo>
                <a:lnTo>
                  <a:pt x="0" y="6916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2380626">
            <a:off x="879575" y="1497470"/>
            <a:ext cx="669013" cy="691649"/>
          </a:xfrm>
          <a:custGeom>
            <a:avLst/>
            <a:gdLst/>
            <a:ahLst/>
            <a:cxnLst/>
            <a:rect r="r" b="b" t="t" l="l"/>
            <a:pathLst>
              <a:path h="691649" w="669013">
                <a:moveTo>
                  <a:pt x="0" y="0"/>
                </a:moveTo>
                <a:lnTo>
                  <a:pt x="669013" y="0"/>
                </a:lnTo>
                <a:lnTo>
                  <a:pt x="669013" y="691650"/>
                </a:lnTo>
                <a:lnTo>
                  <a:pt x="0" y="6916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2380626">
            <a:off x="38599" y="2586299"/>
            <a:ext cx="669013" cy="691649"/>
          </a:xfrm>
          <a:custGeom>
            <a:avLst/>
            <a:gdLst/>
            <a:ahLst/>
            <a:cxnLst/>
            <a:rect r="r" b="b" t="t" l="l"/>
            <a:pathLst>
              <a:path h="691649" w="669013">
                <a:moveTo>
                  <a:pt x="0" y="0"/>
                </a:moveTo>
                <a:lnTo>
                  <a:pt x="669014" y="0"/>
                </a:lnTo>
                <a:lnTo>
                  <a:pt x="669014" y="691649"/>
                </a:lnTo>
                <a:lnTo>
                  <a:pt x="0" y="6916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2380626">
            <a:off x="995099" y="3689881"/>
            <a:ext cx="669013" cy="691649"/>
          </a:xfrm>
          <a:custGeom>
            <a:avLst/>
            <a:gdLst/>
            <a:ahLst/>
            <a:cxnLst/>
            <a:rect r="r" b="b" t="t" l="l"/>
            <a:pathLst>
              <a:path h="691649" w="669013">
                <a:moveTo>
                  <a:pt x="0" y="0"/>
                </a:moveTo>
                <a:lnTo>
                  <a:pt x="669013" y="0"/>
                </a:lnTo>
                <a:lnTo>
                  <a:pt x="669013" y="691649"/>
                </a:lnTo>
                <a:lnTo>
                  <a:pt x="0" y="6916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2380626">
            <a:off x="190999" y="5015432"/>
            <a:ext cx="669013" cy="691649"/>
          </a:xfrm>
          <a:custGeom>
            <a:avLst/>
            <a:gdLst/>
            <a:ahLst/>
            <a:cxnLst/>
            <a:rect r="r" b="b" t="t" l="l"/>
            <a:pathLst>
              <a:path h="691649" w="669013">
                <a:moveTo>
                  <a:pt x="0" y="0"/>
                </a:moveTo>
                <a:lnTo>
                  <a:pt x="669014" y="0"/>
                </a:lnTo>
                <a:lnTo>
                  <a:pt x="669014" y="691649"/>
                </a:lnTo>
                <a:lnTo>
                  <a:pt x="0" y="6916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2380626">
            <a:off x="995099" y="6128190"/>
            <a:ext cx="669013" cy="691649"/>
          </a:xfrm>
          <a:custGeom>
            <a:avLst/>
            <a:gdLst/>
            <a:ahLst/>
            <a:cxnLst/>
            <a:rect r="r" b="b" t="t" l="l"/>
            <a:pathLst>
              <a:path h="691649" w="669013">
                <a:moveTo>
                  <a:pt x="0" y="0"/>
                </a:moveTo>
                <a:lnTo>
                  <a:pt x="669013" y="0"/>
                </a:lnTo>
                <a:lnTo>
                  <a:pt x="669013" y="691649"/>
                </a:lnTo>
                <a:lnTo>
                  <a:pt x="0" y="6916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2380626">
            <a:off x="190999" y="6607924"/>
            <a:ext cx="669013" cy="691649"/>
          </a:xfrm>
          <a:custGeom>
            <a:avLst/>
            <a:gdLst/>
            <a:ahLst/>
            <a:cxnLst/>
            <a:rect r="r" b="b" t="t" l="l"/>
            <a:pathLst>
              <a:path h="691649" w="669013">
                <a:moveTo>
                  <a:pt x="0" y="0"/>
                </a:moveTo>
                <a:lnTo>
                  <a:pt x="669014" y="0"/>
                </a:lnTo>
                <a:lnTo>
                  <a:pt x="669014" y="691650"/>
                </a:lnTo>
                <a:lnTo>
                  <a:pt x="0" y="6916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2380626">
            <a:off x="1147499" y="7831102"/>
            <a:ext cx="669013" cy="691649"/>
          </a:xfrm>
          <a:custGeom>
            <a:avLst/>
            <a:gdLst/>
            <a:ahLst/>
            <a:cxnLst/>
            <a:rect r="r" b="b" t="t" l="l"/>
            <a:pathLst>
              <a:path h="691649" w="669013">
                <a:moveTo>
                  <a:pt x="0" y="0"/>
                </a:moveTo>
                <a:lnTo>
                  <a:pt x="669013" y="0"/>
                </a:lnTo>
                <a:lnTo>
                  <a:pt x="669013" y="691649"/>
                </a:lnTo>
                <a:lnTo>
                  <a:pt x="0" y="6916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2380626">
            <a:off x="306524" y="8919930"/>
            <a:ext cx="669013" cy="691649"/>
          </a:xfrm>
          <a:custGeom>
            <a:avLst/>
            <a:gdLst/>
            <a:ahLst/>
            <a:cxnLst/>
            <a:rect r="r" b="b" t="t" l="l"/>
            <a:pathLst>
              <a:path h="691649" w="669013">
                <a:moveTo>
                  <a:pt x="0" y="0"/>
                </a:moveTo>
                <a:lnTo>
                  <a:pt x="669013" y="0"/>
                </a:lnTo>
                <a:lnTo>
                  <a:pt x="669013" y="691649"/>
                </a:lnTo>
                <a:lnTo>
                  <a:pt x="0" y="6916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4387233" y="696161"/>
            <a:ext cx="1500678" cy="34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true">
                <a:solidFill>
                  <a:srgbClr val="212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Lucas Paiva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387233" y="1526684"/>
            <a:ext cx="2975114" cy="34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true">
                <a:solidFill>
                  <a:srgbClr val="212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GitHub: @lucaspaiva-lp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387233" y="1111904"/>
            <a:ext cx="4150416" cy="34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true">
                <a:solidFill>
                  <a:srgbClr val="212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Linktree: linktr.ee/lucaspaiva_lp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436798" y="3160921"/>
            <a:ext cx="1885320" cy="34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true">
                <a:solidFill>
                  <a:srgbClr val="212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Matheus Alves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436798" y="3577712"/>
            <a:ext cx="2288538" cy="34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true">
                <a:solidFill>
                  <a:srgbClr val="212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GitHub: @AlvesTK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436798" y="5543627"/>
            <a:ext cx="1881192" cy="34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true">
                <a:solidFill>
                  <a:srgbClr val="212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Nicolas Santos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447311" y="5960071"/>
            <a:ext cx="3072269" cy="34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true">
                <a:solidFill>
                  <a:srgbClr val="212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GitHub: @nicolas021007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814664" y="761836"/>
            <a:ext cx="2148480" cy="34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true">
                <a:solidFill>
                  <a:srgbClr val="212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Felipe Gonçalves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814664" y="1176368"/>
            <a:ext cx="2312126" cy="34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true">
                <a:solidFill>
                  <a:srgbClr val="212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GitHub: @FIGFelip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814664" y="3146636"/>
            <a:ext cx="2021544" cy="34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true">
                <a:solidFill>
                  <a:srgbClr val="212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Rodrigo Moraes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814664" y="3560850"/>
            <a:ext cx="3392042" cy="34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true">
                <a:solidFill>
                  <a:srgbClr val="212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GitHub: @RodrigoDevBack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814664" y="5529342"/>
            <a:ext cx="1240466" cy="34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true">
                <a:solidFill>
                  <a:srgbClr val="212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Raian Luz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436798" y="7926333"/>
            <a:ext cx="2379501" cy="34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true">
                <a:solidFill>
                  <a:srgbClr val="212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Alexandre Arcanjo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447311" y="8352302"/>
            <a:ext cx="3629184" cy="36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1" b="true">
                <a:solidFill>
                  <a:srgbClr val="212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GitHub: @alexandrexande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387233" y="1943128"/>
            <a:ext cx="3192424" cy="34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true">
                <a:solidFill>
                  <a:srgbClr val="212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LinkedIn</a:t>
            </a:r>
            <a:r>
              <a:rPr lang="en-US" sz="2034" b="true">
                <a:solidFill>
                  <a:srgbClr val="212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@lucaspaiva-lp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814664" y="5945786"/>
            <a:ext cx="2334582" cy="34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034" b="true">
                <a:solidFill>
                  <a:srgbClr val="21211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GitHub: @raianluz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13370" y="3202791"/>
            <a:ext cx="3932970" cy="6243784"/>
            <a:chOff x="0" y="0"/>
            <a:chExt cx="51018707" cy="809960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018706" cy="80996030"/>
            </a:xfrm>
            <a:custGeom>
              <a:avLst/>
              <a:gdLst/>
              <a:ahLst/>
              <a:cxnLst/>
              <a:rect r="r" b="b" t="t" l="l"/>
              <a:pathLst>
                <a:path h="80996030" w="51018706">
                  <a:moveTo>
                    <a:pt x="51018706" y="35432"/>
                  </a:moveTo>
                  <a:lnTo>
                    <a:pt x="51018706" y="80960596"/>
                  </a:lnTo>
                  <a:cubicBezTo>
                    <a:pt x="51018706" y="80969997"/>
                    <a:pt x="51014973" y="80979008"/>
                    <a:pt x="51008328" y="80985649"/>
                  </a:cubicBezTo>
                  <a:cubicBezTo>
                    <a:pt x="51001684" y="80992297"/>
                    <a:pt x="50992670" y="80996030"/>
                    <a:pt x="50983273" y="80996030"/>
                  </a:cubicBezTo>
                  <a:lnTo>
                    <a:pt x="35432" y="80996030"/>
                  </a:lnTo>
                  <a:cubicBezTo>
                    <a:pt x="26035" y="80996030"/>
                    <a:pt x="17023" y="80992297"/>
                    <a:pt x="10378" y="80985649"/>
                  </a:cubicBezTo>
                  <a:cubicBezTo>
                    <a:pt x="3733" y="80979008"/>
                    <a:pt x="0" y="80969997"/>
                    <a:pt x="0" y="80960596"/>
                  </a:cubicBezTo>
                  <a:lnTo>
                    <a:pt x="0" y="35432"/>
                  </a:lnTo>
                  <a:cubicBezTo>
                    <a:pt x="0" y="26035"/>
                    <a:pt x="3733" y="17023"/>
                    <a:pt x="10378" y="10378"/>
                  </a:cubicBezTo>
                  <a:cubicBezTo>
                    <a:pt x="17023" y="3733"/>
                    <a:pt x="26035" y="0"/>
                    <a:pt x="35432" y="0"/>
                  </a:cubicBezTo>
                  <a:lnTo>
                    <a:pt x="50983273" y="0"/>
                  </a:lnTo>
                  <a:cubicBezTo>
                    <a:pt x="50992670" y="0"/>
                    <a:pt x="51001684" y="3733"/>
                    <a:pt x="51008328" y="10378"/>
                  </a:cubicBezTo>
                  <a:cubicBezTo>
                    <a:pt x="51014973" y="17023"/>
                    <a:pt x="51018706" y="26035"/>
                    <a:pt x="51018706" y="35432"/>
                  </a:cubicBezTo>
                  <a:close/>
                </a:path>
              </a:pathLst>
            </a:custGeom>
            <a:solidFill>
              <a:srgbClr val="C1E32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51018707" cy="81081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5592003" y="3504646"/>
            <a:ext cx="2851244" cy="2886225"/>
            <a:chOff x="0" y="0"/>
            <a:chExt cx="6273038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73038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73038">
                  <a:moveTo>
                    <a:pt x="0" y="307848"/>
                  </a:moveTo>
                  <a:cubicBezTo>
                    <a:pt x="0" y="137795"/>
                    <a:pt x="137795" y="0"/>
                    <a:pt x="307848" y="0"/>
                  </a:cubicBezTo>
                  <a:lnTo>
                    <a:pt x="5965190" y="0"/>
                  </a:lnTo>
                  <a:cubicBezTo>
                    <a:pt x="6135243" y="0"/>
                    <a:pt x="6273038" y="137795"/>
                    <a:pt x="6273038" y="307848"/>
                  </a:cubicBezTo>
                  <a:lnTo>
                    <a:pt x="6273038" y="6042152"/>
                  </a:lnTo>
                  <a:cubicBezTo>
                    <a:pt x="6273038" y="6212205"/>
                    <a:pt x="6135243" y="6350000"/>
                    <a:pt x="5965190" y="6350000"/>
                  </a:cubicBezTo>
                  <a:lnTo>
                    <a:pt x="307848" y="6350000"/>
                  </a:lnTo>
                  <a:cubicBezTo>
                    <a:pt x="137795" y="6350000"/>
                    <a:pt x="0" y="6212205"/>
                    <a:pt x="0" y="6042152"/>
                  </a:cubicBezTo>
                  <a:lnTo>
                    <a:pt x="0" y="307848"/>
                  </a:lnTo>
                  <a:close/>
                </a:path>
              </a:pathLst>
            </a:custGeom>
            <a:blipFill>
              <a:blip r:embed="rId2"/>
              <a:stretch>
                <a:fillRect l="-613" t="0" r="-613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73038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73038">
                  <a:moveTo>
                    <a:pt x="6273038" y="307848"/>
                  </a:moveTo>
                  <a:lnTo>
                    <a:pt x="6273038" y="6042152"/>
                  </a:lnTo>
                  <a:cubicBezTo>
                    <a:pt x="6273038" y="6211824"/>
                    <a:pt x="6134989" y="6350000"/>
                    <a:pt x="5965190" y="6350000"/>
                  </a:cubicBezTo>
                  <a:lnTo>
                    <a:pt x="307975" y="6350000"/>
                  </a:lnTo>
                  <a:cubicBezTo>
                    <a:pt x="138176" y="6350000"/>
                    <a:pt x="0" y="6211824"/>
                    <a:pt x="0" y="6042152"/>
                  </a:cubicBezTo>
                  <a:lnTo>
                    <a:pt x="0" y="307848"/>
                  </a:lnTo>
                  <a:cubicBezTo>
                    <a:pt x="0" y="138176"/>
                    <a:pt x="138176" y="0"/>
                    <a:pt x="307975" y="0"/>
                  </a:cubicBezTo>
                  <a:lnTo>
                    <a:pt x="5965190" y="0"/>
                  </a:lnTo>
                  <a:cubicBezTo>
                    <a:pt x="6134989" y="0"/>
                    <a:pt x="6273038" y="138176"/>
                    <a:pt x="6273038" y="307848"/>
                  </a:cubicBezTo>
                  <a:close/>
                </a:path>
              </a:pathLst>
            </a:custGeom>
            <a:blipFill>
              <a:blip r:embed="rId3"/>
              <a:stretch>
                <a:fillRect l="-44" t="0" r="-44" b="0"/>
              </a:stretch>
            </a:blipFill>
          </p:spPr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48329" y="6375243"/>
            <a:ext cx="2938591" cy="2938591"/>
          </a:xfrm>
          <a:prstGeom prst="rect">
            <a:avLst/>
          </a:prstGeom>
        </p:spPr>
      </p:pic>
      <p:sp>
        <p:nvSpPr>
          <p:cNvPr name="Freeform 9" id="9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7672986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0183" y="5143500"/>
            <a:ext cx="3321587" cy="2017109"/>
          </a:xfrm>
          <a:custGeom>
            <a:avLst/>
            <a:gdLst/>
            <a:ahLst/>
            <a:cxnLst/>
            <a:rect r="r" b="b" t="t" l="l"/>
            <a:pathLst>
              <a:path h="2017109" w="3321587">
                <a:moveTo>
                  <a:pt x="0" y="0"/>
                </a:moveTo>
                <a:lnTo>
                  <a:pt x="3321587" y="0"/>
                </a:lnTo>
                <a:lnTo>
                  <a:pt x="3321587" y="2017109"/>
                </a:lnTo>
                <a:lnTo>
                  <a:pt x="0" y="20171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4407778" y="4586458"/>
            <a:ext cx="3171453" cy="1925937"/>
          </a:xfrm>
          <a:custGeom>
            <a:avLst/>
            <a:gdLst/>
            <a:ahLst/>
            <a:cxnLst/>
            <a:rect r="r" b="b" t="t" l="l"/>
            <a:pathLst>
              <a:path h="1925937" w="3171453">
                <a:moveTo>
                  <a:pt x="3171452" y="1925937"/>
                </a:moveTo>
                <a:lnTo>
                  <a:pt x="0" y="1925937"/>
                </a:lnTo>
                <a:lnTo>
                  <a:pt x="0" y="0"/>
                </a:lnTo>
                <a:lnTo>
                  <a:pt x="3171452" y="0"/>
                </a:lnTo>
                <a:lnTo>
                  <a:pt x="3171452" y="1925937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712808" y="3202791"/>
            <a:ext cx="3932970" cy="6243784"/>
            <a:chOff x="0" y="0"/>
            <a:chExt cx="51018707" cy="809960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018706" cy="80996030"/>
            </a:xfrm>
            <a:custGeom>
              <a:avLst/>
              <a:gdLst/>
              <a:ahLst/>
              <a:cxnLst/>
              <a:rect r="r" b="b" t="t" l="l"/>
              <a:pathLst>
                <a:path h="80996030" w="51018706">
                  <a:moveTo>
                    <a:pt x="51018706" y="35432"/>
                  </a:moveTo>
                  <a:lnTo>
                    <a:pt x="51018706" y="80960596"/>
                  </a:lnTo>
                  <a:cubicBezTo>
                    <a:pt x="51018706" y="80969997"/>
                    <a:pt x="51014973" y="80979008"/>
                    <a:pt x="51008328" y="80985649"/>
                  </a:cubicBezTo>
                  <a:cubicBezTo>
                    <a:pt x="51001684" y="80992297"/>
                    <a:pt x="50992670" y="80996030"/>
                    <a:pt x="50983273" y="80996030"/>
                  </a:cubicBezTo>
                  <a:lnTo>
                    <a:pt x="35432" y="80996030"/>
                  </a:lnTo>
                  <a:cubicBezTo>
                    <a:pt x="26035" y="80996030"/>
                    <a:pt x="17023" y="80992297"/>
                    <a:pt x="10378" y="80985649"/>
                  </a:cubicBezTo>
                  <a:cubicBezTo>
                    <a:pt x="3733" y="80979008"/>
                    <a:pt x="0" y="80969997"/>
                    <a:pt x="0" y="80960596"/>
                  </a:cubicBezTo>
                  <a:lnTo>
                    <a:pt x="0" y="35432"/>
                  </a:lnTo>
                  <a:cubicBezTo>
                    <a:pt x="0" y="26035"/>
                    <a:pt x="3733" y="17023"/>
                    <a:pt x="10378" y="10378"/>
                  </a:cubicBezTo>
                  <a:cubicBezTo>
                    <a:pt x="17023" y="3733"/>
                    <a:pt x="26035" y="0"/>
                    <a:pt x="35432" y="0"/>
                  </a:cubicBezTo>
                  <a:lnTo>
                    <a:pt x="50983273" y="0"/>
                  </a:lnTo>
                  <a:cubicBezTo>
                    <a:pt x="50992670" y="0"/>
                    <a:pt x="51001684" y="3733"/>
                    <a:pt x="51008328" y="10378"/>
                  </a:cubicBezTo>
                  <a:cubicBezTo>
                    <a:pt x="51014973" y="17023"/>
                    <a:pt x="51018706" y="26035"/>
                    <a:pt x="51018706" y="35432"/>
                  </a:cubicBezTo>
                  <a:close/>
                </a:path>
              </a:pathLst>
            </a:custGeom>
            <a:solidFill>
              <a:srgbClr val="C1E32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51018707" cy="81081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0291440" y="3504646"/>
            <a:ext cx="2851244" cy="2886225"/>
            <a:chOff x="0" y="0"/>
            <a:chExt cx="6273038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73038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73038">
                  <a:moveTo>
                    <a:pt x="0" y="307848"/>
                  </a:moveTo>
                  <a:cubicBezTo>
                    <a:pt x="0" y="137795"/>
                    <a:pt x="137795" y="0"/>
                    <a:pt x="307848" y="0"/>
                  </a:cubicBezTo>
                  <a:lnTo>
                    <a:pt x="5965190" y="0"/>
                  </a:lnTo>
                  <a:cubicBezTo>
                    <a:pt x="6135243" y="0"/>
                    <a:pt x="6273038" y="137795"/>
                    <a:pt x="6273038" y="307848"/>
                  </a:cubicBezTo>
                  <a:lnTo>
                    <a:pt x="6273038" y="6042152"/>
                  </a:lnTo>
                  <a:cubicBezTo>
                    <a:pt x="6273038" y="6212205"/>
                    <a:pt x="6135243" y="6350000"/>
                    <a:pt x="5965190" y="6350000"/>
                  </a:cubicBezTo>
                  <a:lnTo>
                    <a:pt x="307848" y="6350000"/>
                  </a:lnTo>
                  <a:cubicBezTo>
                    <a:pt x="137795" y="6350000"/>
                    <a:pt x="0" y="6212205"/>
                    <a:pt x="0" y="6042152"/>
                  </a:cubicBezTo>
                  <a:lnTo>
                    <a:pt x="0" y="307848"/>
                  </a:lnTo>
                  <a:close/>
                </a:path>
              </a:pathLst>
            </a:custGeom>
            <a:blipFill>
              <a:blip r:embed="rId9"/>
              <a:stretch>
                <a:fillRect l="-613" t="0" r="-613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73038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73038">
                  <a:moveTo>
                    <a:pt x="6273038" y="307848"/>
                  </a:moveTo>
                  <a:lnTo>
                    <a:pt x="6273038" y="6042152"/>
                  </a:lnTo>
                  <a:cubicBezTo>
                    <a:pt x="6273038" y="6211824"/>
                    <a:pt x="6134989" y="6350000"/>
                    <a:pt x="5965190" y="6350000"/>
                  </a:cubicBezTo>
                  <a:lnTo>
                    <a:pt x="307975" y="6350000"/>
                  </a:lnTo>
                  <a:cubicBezTo>
                    <a:pt x="138176" y="6350000"/>
                    <a:pt x="0" y="6211824"/>
                    <a:pt x="0" y="6042152"/>
                  </a:cubicBezTo>
                  <a:lnTo>
                    <a:pt x="0" y="307848"/>
                  </a:lnTo>
                  <a:cubicBezTo>
                    <a:pt x="0" y="138176"/>
                    <a:pt x="138176" y="0"/>
                    <a:pt x="307975" y="0"/>
                  </a:cubicBezTo>
                  <a:lnTo>
                    <a:pt x="5965190" y="0"/>
                  </a:lnTo>
                  <a:cubicBezTo>
                    <a:pt x="6134989" y="0"/>
                    <a:pt x="6273038" y="138176"/>
                    <a:pt x="6273038" y="307848"/>
                  </a:cubicBezTo>
                  <a:close/>
                </a:path>
              </a:pathLst>
            </a:custGeom>
            <a:blipFill>
              <a:blip r:embed="rId3"/>
              <a:stretch>
                <a:fillRect l="-44" t="0" r="-44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882066" y="721364"/>
            <a:ext cx="8523868" cy="189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5"/>
              </a:lnSpc>
            </a:pPr>
            <a:r>
              <a:rPr lang="en-US" sz="5468" b="true">
                <a:solidFill>
                  <a:srgbClr val="C1E3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VEJA NOSSO TRABALHO DE PERTO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247766" y="6375243"/>
            <a:ext cx="2938591" cy="29385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DAHHBoEMw_A</dc:identifier>
  <dcterms:modified xsi:type="dcterms:W3CDTF">2011-08-01T06:04:30Z</dcterms:modified>
  <cp:revision>1</cp:revision>
  <dc:title>bibi Dev.</dc:title>
</cp:coreProperties>
</file>